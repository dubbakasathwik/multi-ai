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1371600"/>
            <a:ext cx="365760" cy="36576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89920" y="2926080"/>
            <a:ext cx="274320" cy="27432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0" y="4114800"/>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0" y="5303520"/>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9784080" y="1554480"/>
            <a:ext cx="1005840" cy="1508760"/>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8842248" y="3200400"/>
            <a:ext cx="2084832" cy="1069848"/>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006840" y="4270248"/>
            <a:ext cx="1234440" cy="1143000"/>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1188720"/>
            <a:ext cx="7772400" cy="2011680"/>
          </a:xfrm>
          <a:prstGeom prst="rect">
            <a:avLst/>
          </a:prstGeom>
          <a:noFill/>
        </p:spPr>
        <p:txBody>
          <a:bodyPr wrap="square">
            <a:spAutoFit/>
          </a:bodyPr>
          <a:lstStyle/>
          <a:p>
            <a:pPr>
              <a:spcAft>
                <a:spcPts val="600"/>
              </a:spcAft>
              <a:defRPr sz="5400" b="1">
                <a:solidFill>
                  <a:srgbClr val="2563EB"/>
                </a:solidFill>
                <a:latin typeface="Arial"/>
              </a:defRPr>
            </a:pPr>
            <a:r>
              <a:t>MULTIAI</a:t>
            </a:r>
          </a:p>
          <a:p>
            <a:pPr>
              <a:spcAft>
                <a:spcPts val="600"/>
              </a:spcAft>
              <a:defRPr sz="2000" b="1">
                <a:solidFill>
                  <a:srgbClr val="4F46E5"/>
                </a:solidFill>
                <a:latin typeface="Arial"/>
              </a:defRPr>
            </a:pPr>
            <a:r>
              <a:t>Multi-AI Response Interface &amp; Comparison Platform</a:t>
            </a:r>
          </a:p>
          <a:p>
            <a:pPr>
              <a:spcAft>
                <a:spcPts val="600"/>
              </a:spcAft>
              <a:defRPr sz="1400" b="0">
                <a:solidFill>
                  <a:srgbClr val="64748B"/>
                </a:solidFill>
                <a:latin typeface="Arial"/>
              </a:defRPr>
            </a:pPr>
            <a:r>
              <a:t>One Prompt. Multiple AI Perspectives. Intelligent AI Workspace.</a:t>
            </a:r>
          </a:p>
        </p:txBody>
      </p:sp>
      <p:sp>
        <p:nvSpPr>
          <p:cNvPr id="11" name="TextBox 10"/>
          <p:cNvSpPr txBox="1"/>
          <p:nvPr/>
        </p:nvSpPr>
        <p:spPr>
          <a:xfrm>
            <a:off x="685800" y="3566160"/>
            <a:ext cx="7772400" cy="2560320"/>
          </a:xfrm>
          <a:prstGeom prst="rect">
            <a:avLst/>
          </a:prstGeom>
          <a:noFill/>
        </p:spPr>
        <p:txBody>
          <a:bodyPr wrap="square">
            <a:spAutoFit/>
          </a:bodyPr>
          <a:lstStyle/>
          <a:p>
            <a:pPr>
              <a:spcAft>
                <a:spcPts val="600"/>
              </a:spcAft>
              <a:defRPr sz="1300" b="1">
                <a:solidFill>
                  <a:srgbClr val="1E293B"/>
                </a:solidFill>
                <a:latin typeface="Arial"/>
              </a:defRPr>
            </a:pPr>
            <a:r>
              <a:t>Student Team Members:</a:t>
            </a:r>
          </a:p>
          <a:p>
            <a:pPr>
              <a:spcAft>
                <a:spcPts val="600"/>
              </a:spcAft>
              <a:defRPr sz="1200" b="0">
                <a:solidFill>
                  <a:srgbClr val="64748B"/>
                </a:solidFill>
                <a:latin typeface="Arial"/>
              </a:defRPr>
            </a:pPr>
            <a:r>
              <a:t>• D. Sathwik (2451-24-751-016)</a:t>
            </a:r>
            <a:br/>
            <a:r>
              <a:t>• E. Sahithi (2451-24-751-017)</a:t>
            </a:r>
            <a:br/>
            <a:r>
              <a:t>• K. Harshil (2451-24-751-024)</a:t>
            </a:r>
          </a:p>
          <a:p>
            <a:pPr>
              <a:spcBef>
                <a:spcPts val="800"/>
              </a:spcBef>
              <a:spcAft>
                <a:spcPts val="600"/>
              </a:spcAft>
              <a:defRPr sz="1200" b="1">
                <a:solidFill>
                  <a:srgbClr val="4F46E5"/>
                </a:solidFill>
                <a:latin typeface="Arial"/>
              </a:defRPr>
            </a:pPr>
            <a:r>
              <a:t>Project Supervisor: Dr. MVR Jyothisree, Associate Professor, Dept. of CSE-Allied, MVSREC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Project Abstract</a:t>
            </a:r>
          </a:p>
        </p:txBody>
      </p:sp>
      <p:sp>
        <p:nvSpPr>
          <p:cNvPr id="4" name="Rounded Rectangle 3"/>
          <p:cNvSpPr/>
          <p:nvPr/>
        </p:nvSpPr>
        <p:spPr>
          <a:xfrm>
            <a:off x="685800" y="1371600"/>
            <a:ext cx="10817352"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0152" cy="4206240"/>
          </a:xfrm>
          <a:prstGeom prst="rect">
            <a:avLst/>
          </a:prstGeom>
          <a:noFill/>
        </p:spPr>
        <p:txBody>
          <a:bodyPr wrap="square">
            <a:spAutoFit/>
          </a:bodyPr>
          <a:lstStyle/>
          <a:p>
            <a:pPr>
              <a:spcAft>
                <a:spcPts val="600"/>
              </a:spcAft>
              <a:defRPr sz="1600" b="1">
                <a:solidFill>
                  <a:srgbClr val="2563EB"/>
                </a:solidFill>
                <a:latin typeface="Arial"/>
              </a:defRPr>
            </a:pPr>
            <a:r>
              <a:t>Core Motivation &amp; Methodology:</a:t>
            </a:r>
          </a:p>
          <a:p>
            <a:pPr>
              <a:spcAft>
                <a:spcPts val="600"/>
              </a:spcAft>
              <a:defRPr sz="1400" b="0">
                <a:solidFill>
                  <a:srgbClr val="1E293B"/>
                </a:solidFill>
                <a:latin typeface="Arial"/>
              </a:defRPr>
            </a:pPr>
            <a:r>
              <a:t>In the current Artificial Intelligence paradigm, engineers and researchers face severe interface fragmentation when querying different Large Language Models (LLMs). Each LLM service has distinct response tones, accuracy variations, and latency rates. Multi-AI addresses this friction by introducing a unified response interface and comparison playground.</a:t>
            </a:r>
          </a:p>
          <a:p>
            <a:pPr>
              <a:spcBef>
                <a:spcPts val="1200"/>
              </a:spcBef>
              <a:spcAft>
                <a:spcPts val="600"/>
              </a:spcAft>
              <a:defRPr sz="1500" b="1">
                <a:solidFill>
                  <a:srgbClr val="4F46E5"/>
                </a:solidFill>
                <a:latin typeface="Arial"/>
              </a:defRPr>
            </a:pPr>
            <a:r>
              <a:t>Key Project Highlights:</a:t>
            </a:r>
          </a:p>
          <a:p>
            <a:pPr>
              <a:spcAft>
                <a:spcPts val="600"/>
              </a:spcAft>
              <a:defRPr sz="1300" b="0">
                <a:solidFill>
                  <a:srgbClr val="1E293B"/>
                </a:solidFill>
                <a:latin typeface="Arial"/>
              </a:defRPr>
            </a:pPr>
            <a:r>
              <a:t>• Parallel Broadcasting: Executes prompts concurrently across Google Gemini, Liquid LFM, Groq Llama, Qwen HF, and Cohere.</a:t>
            </a:r>
          </a:p>
          <a:p>
            <a:pPr>
              <a:spcAft>
                <a:spcPts val="600"/>
              </a:spcAft>
              <a:defRPr sz="1300" b="0">
                <a:solidFill>
                  <a:srgbClr val="1E293B"/>
                </a:solidFill>
                <a:latin typeface="Arial"/>
              </a:defRPr>
            </a:pPr>
            <a:r>
              <a:t>• Intelligent Workspace Features: Provides automatic consensus summaries, AI-selected best responses, voice speech conversions, and collaborative AI debate simulators.</a:t>
            </a:r>
          </a:p>
          <a:p>
            <a:pPr>
              <a:spcAft>
                <a:spcPts val="600"/>
              </a:spcAft>
              <a:defRPr sz="1300" b="0">
                <a:solidFill>
                  <a:srgbClr val="1E293B"/>
                </a:solidFill>
                <a:latin typeface="Arial"/>
              </a:defRPr>
            </a:pPr>
            <a:r>
              <a:t>• Session Resiliency: Uses Mongoose bulkWrite syncing configurations to ensure secure data tracking without data loss.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Problem Statement</a:t>
            </a:r>
          </a:p>
        </p:txBody>
      </p:sp>
      <p:sp>
        <p:nvSpPr>
          <p:cNvPr id="4" name="Rounded Rectangle 3"/>
          <p:cNvSpPr/>
          <p:nvPr/>
        </p:nvSpPr>
        <p:spPr>
          <a:xfrm>
            <a:off x="685800" y="137160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663440" cy="4206240"/>
          </a:xfrm>
          <a:prstGeom prst="rect">
            <a:avLst/>
          </a:prstGeom>
          <a:noFill/>
        </p:spPr>
        <p:txBody>
          <a:bodyPr wrap="square">
            <a:spAutoFit/>
          </a:bodyPr>
          <a:lstStyle/>
          <a:p>
            <a:pPr>
              <a:spcAft>
                <a:spcPts val="600"/>
              </a:spcAft>
              <a:defRPr sz="1800" b="1">
                <a:solidFill>
                  <a:srgbClr val="EF4444"/>
                </a:solidFill>
                <a:latin typeface="Arial"/>
              </a:defRPr>
            </a:pPr>
            <a:r>
              <a:t>Current Disorganized Workflow</a:t>
            </a:r>
          </a:p>
          <a:p>
            <a:pPr>
              <a:spcAft>
                <a:spcPts val="600"/>
              </a:spcAft>
              <a:defRPr sz="1300" b="0">
                <a:solidFill>
                  <a:srgbClr val="1E293B"/>
                </a:solidFill>
                <a:latin typeface="Arial"/>
              </a:defRPr>
            </a:pPr>
            <a:r>
              <a:t>• Repeated Prompting: Typing identical prompts across multiple model portals.</a:t>
            </a:r>
          </a:p>
          <a:p>
            <a:pPr>
              <a:spcAft>
                <a:spcPts val="600"/>
              </a:spcAft>
              <a:defRPr sz="1300" b="0">
                <a:solidFill>
                  <a:srgbClr val="1E293B"/>
                </a:solidFill>
                <a:latin typeface="Arial"/>
              </a:defRPr>
            </a:pPr>
            <a:r>
              <a:t>• Too Many Tabs: Desktop clutter with multiple browser windows open.</a:t>
            </a:r>
          </a:p>
          <a:p>
            <a:pPr>
              <a:spcAft>
                <a:spcPts val="600"/>
              </a:spcAft>
              <a:defRPr sz="1300" b="0">
                <a:solidFill>
                  <a:srgbClr val="1E293B"/>
                </a:solidFill>
                <a:latin typeface="Arial"/>
              </a:defRPr>
            </a:pPr>
            <a:r>
              <a:t>• Time Consuming: Manual page swapping takes minutes instead of seconds.</a:t>
            </a:r>
          </a:p>
          <a:p>
            <a:pPr>
              <a:spcAft>
                <a:spcPts val="600"/>
              </a:spcAft>
              <a:defRPr sz="1300" b="0">
                <a:solidFill>
                  <a:srgbClr val="1E293B"/>
                </a:solidFill>
                <a:latin typeface="Arial"/>
              </a:defRPr>
            </a:pPr>
            <a:r>
              <a:t>• No Latency/Token Metrics: Lack of structured API metrics for benchmarking.</a:t>
            </a:r>
          </a:p>
          <a:p>
            <a:pPr>
              <a:spcAft>
                <a:spcPts val="600"/>
              </a:spcAft>
              <a:defRPr sz="1300" b="0">
                <a:solidFill>
                  <a:srgbClr val="1E293B"/>
                </a:solidFill>
                <a:latin typeface="Arial"/>
              </a:defRPr>
            </a:pPr>
            <a:r>
              <a:t>• Workflow Interruption: Disrupts development cycles and research flows.</a:t>
            </a:r>
          </a:p>
        </p:txBody>
      </p:sp>
      <p:sp>
        <p:nvSpPr>
          <p:cNvPr id="6" name="Rounded Rectangle 5"/>
          <p:cNvSpPr/>
          <p:nvPr/>
        </p:nvSpPr>
        <p:spPr>
          <a:xfrm>
            <a:off x="6382512" y="137160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1554480"/>
            <a:ext cx="4663440" cy="4206240"/>
          </a:xfrm>
          <a:prstGeom prst="rect">
            <a:avLst/>
          </a:prstGeom>
          <a:noFill/>
        </p:spPr>
        <p:txBody>
          <a:bodyPr wrap="square">
            <a:spAutoFit/>
          </a:bodyPr>
          <a:lstStyle/>
          <a:p>
            <a:pPr>
              <a:spcAft>
                <a:spcPts val="600"/>
              </a:spcAft>
              <a:defRPr sz="1800" b="1">
                <a:solidFill>
                  <a:srgbClr val="10B981"/>
                </a:solidFill>
                <a:latin typeface="Arial"/>
              </a:defRPr>
            </a:pPr>
            <a:r>
              <a:t>The Multi-AI Unified Solution</a:t>
            </a:r>
          </a:p>
          <a:p>
            <a:pPr>
              <a:spcAft>
                <a:spcPts val="600"/>
              </a:spcAft>
              <a:defRPr sz="1300" b="0">
                <a:solidFill>
                  <a:srgbClr val="1E293B"/>
                </a:solidFill>
                <a:latin typeface="Arial"/>
              </a:defRPr>
            </a:pPr>
            <a:r>
              <a:t>• Unified Input Dock: One centralized prompt bar submits queries to all selected targets.</a:t>
            </a:r>
          </a:p>
          <a:p>
            <a:pPr>
              <a:spcAft>
                <a:spcPts val="600"/>
              </a:spcAft>
              <a:defRPr sz="1300" b="0">
                <a:solidFill>
                  <a:srgbClr val="1E293B"/>
                </a:solidFill>
                <a:latin typeface="Arial"/>
              </a:defRPr>
            </a:pPr>
            <a:r>
              <a:t>• Parallel Async Fetch: Resolves responses concurrently using event loops.</a:t>
            </a:r>
          </a:p>
          <a:p>
            <a:pPr>
              <a:spcAft>
                <a:spcPts val="600"/>
              </a:spcAft>
              <a:defRPr sz="1300" b="0">
                <a:solidFill>
                  <a:srgbClr val="1E293B"/>
                </a:solidFill>
                <a:latin typeface="Arial"/>
              </a:defRPr>
            </a:pPr>
            <a:r>
              <a:t>• Automatic Consensus: Generates combined consensus summaries dynamically.</a:t>
            </a:r>
          </a:p>
          <a:p>
            <a:pPr>
              <a:spcAft>
                <a:spcPts val="600"/>
              </a:spcAft>
              <a:defRPr sz="1300" b="0">
                <a:solidFill>
                  <a:srgbClr val="1E293B"/>
                </a:solidFill>
                <a:latin typeface="Arial"/>
              </a:defRPr>
            </a:pPr>
            <a:r>
              <a:t>• Secure Vault: Local browser encryption for custom keys storage.</a:t>
            </a:r>
          </a:p>
          <a:p>
            <a:pPr>
              <a:spcAft>
                <a:spcPts val="600"/>
              </a:spcAft>
              <a:defRPr sz="1300" b="0">
                <a:solidFill>
                  <a:srgbClr val="1E293B"/>
                </a:solidFill>
                <a:latin typeface="Arial"/>
              </a:defRPr>
            </a:pPr>
            <a:r>
              <a:t>• Dynamic Grid layouts: Auto-scales cards based on model selection.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Project Objectives</a:t>
            </a:r>
          </a:p>
        </p:txBody>
      </p:sp>
      <p:sp>
        <p:nvSpPr>
          <p:cNvPr id="4" name="Rounded Rectangle 3"/>
          <p:cNvSpPr/>
          <p:nvPr/>
        </p:nvSpPr>
        <p:spPr>
          <a:xfrm>
            <a:off x="685800"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Unified AI Workspace</a:t>
            </a:r>
          </a:p>
          <a:p>
            <a:pPr>
              <a:spcAft>
                <a:spcPts val="600"/>
              </a:spcAft>
              <a:defRPr sz="1100" b="0">
                <a:solidFill>
                  <a:srgbClr val="64748B"/>
                </a:solidFill>
                <a:latin typeface="Arial"/>
              </a:defRPr>
            </a:pPr>
            <a:r>
              <a:t>Consolidate multiple LLM integrations under a single panel.</a:t>
            </a:r>
          </a:p>
        </p:txBody>
      </p:sp>
      <p:sp>
        <p:nvSpPr>
          <p:cNvPr id="6" name="Rounded Rectangle 5"/>
          <p:cNvSpPr/>
          <p:nvPr/>
        </p:nvSpPr>
        <p:spPr>
          <a:xfrm>
            <a:off x="4453128"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1728"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Response Comparison</a:t>
            </a:r>
          </a:p>
          <a:p>
            <a:pPr>
              <a:spcAft>
                <a:spcPts val="600"/>
              </a:spcAft>
              <a:defRPr sz="1100" b="0">
                <a:solidFill>
                  <a:srgbClr val="64748B"/>
                </a:solidFill>
                <a:latin typeface="Arial"/>
              </a:defRPr>
            </a:pPr>
            <a:r>
              <a:t>Display side-by-side answers for real-time benchmark analysis.</a:t>
            </a:r>
          </a:p>
        </p:txBody>
      </p:sp>
      <p:sp>
        <p:nvSpPr>
          <p:cNvPr id="8" name="Rounded Rectangle 7"/>
          <p:cNvSpPr/>
          <p:nvPr/>
        </p:nvSpPr>
        <p:spPr>
          <a:xfrm>
            <a:off x="8211312"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Reduce Website Switching</a:t>
            </a:r>
          </a:p>
          <a:p>
            <a:pPr>
              <a:spcAft>
                <a:spcPts val="600"/>
              </a:spcAft>
              <a:defRPr sz="1100" b="0">
                <a:solidFill>
                  <a:srgbClr val="64748B"/>
                </a:solidFill>
                <a:latin typeface="Arial"/>
              </a:defRPr>
            </a:pPr>
            <a:r>
              <a:t>Eliminate multi-tab browser swapping for prompt testing.</a:t>
            </a:r>
          </a:p>
        </p:txBody>
      </p:sp>
      <p:sp>
        <p:nvSpPr>
          <p:cNvPr id="10" name="Rounded Rectangle 9"/>
          <p:cNvSpPr/>
          <p:nvPr/>
        </p:nvSpPr>
        <p:spPr>
          <a:xfrm>
            <a:off x="685800"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Improve Productivity</a:t>
            </a:r>
          </a:p>
          <a:p>
            <a:pPr>
              <a:spcAft>
                <a:spcPts val="600"/>
              </a:spcAft>
              <a:defRPr sz="1100" b="0">
                <a:solidFill>
                  <a:srgbClr val="64748B"/>
                </a:solidFill>
                <a:latin typeface="Arial"/>
              </a:defRPr>
            </a:pPr>
            <a:r>
              <a:t>Compare logic outputs in seconds rather than minutes.</a:t>
            </a:r>
          </a:p>
        </p:txBody>
      </p:sp>
      <p:sp>
        <p:nvSpPr>
          <p:cNvPr id="12" name="Rounded Rectangle 11"/>
          <p:cNvSpPr/>
          <p:nvPr/>
        </p:nvSpPr>
        <p:spPr>
          <a:xfrm>
            <a:off x="4453128"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Scalable Integrations</a:t>
            </a:r>
          </a:p>
          <a:p>
            <a:pPr>
              <a:spcAft>
                <a:spcPts val="600"/>
              </a:spcAft>
              <a:defRPr sz="1100" b="0">
                <a:solidFill>
                  <a:srgbClr val="64748B"/>
                </a:solidFill>
                <a:latin typeface="Arial"/>
              </a:defRPr>
            </a:pPr>
            <a:r>
              <a:t>Easily expand backend connectors for new upstream providers.</a:t>
            </a:r>
          </a:p>
        </p:txBody>
      </p:sp>
      <p:sp>
        <p:nvSpPr>
          <p:cNvPr id="14" name="Rounded Rectangle 13"/>
          <p:cNvSpPr/>
          <p:nvPr/>
        </p:nvSpPr>
        <p:spPr>
          <a:xfrm>
            <a:off x="8211312"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Resilient Session Syncs</a:t>
            </a:r>
          </a:p>
          <a:p>
            <a:pPr>
              <a:spcAft>
                <a:spcPts val="600"/>
              </a:spcAft>
              <a:defRPr sz="1100" b="0">
                <a:solidFill>
                  <a:srgbClr val="64748B"/>
                </a:solidFill>
                <a:latin typeface="Arial"/>
              </a:defRPr>
            </a:pPr>
            <a:r>
              <a:t>Protect logs and system settings via differential bulk write operations.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Project Scope</a:t>
            </a:r>
          </a:p>
        </p:txBody>
      </p:sp>
      <p:sp>
        <p:nvSpPr>
          <p:cNvPr id="4" name="Rounded Rectangle 3"/>
          <p:cNvSpPr/>
          <p:nvPr/>
        </p:nvSpPr>
        <p:spPr>
          <a:xfrm>
            <a:off x="685800" y="137160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663440" cy="4206240"/>
          </a:xfrm>
          <a:prstGeom prst="rect">
            <a:avLst/>
          </a:prstGeom>
          <a:noFill/>
        </p:spPr>
        <p:txBody>
          <a:bodyPr wrap="square">
            <a:spAutoFit/>
          </a:bodyPr>
          <a:lstStyle/>
          <a:p>
            <a:pPr>
              <a:spcAft>
                <a:spcPts val="600"/>
              </a:spcAft>
              <a:defRPr sz="1800" b="1">
                <a:solidFill>
                  <a:srgbClr val="2563EB"/>
                </a:solidFill>
                <a:latin typeface="Arial"/>
              </a:defRPr>
            </a:pPr>
            <a:r>
              <a:t>Current Development Scope:</a:t>
            </a:r>
          </a:p>
          <a:p>
            <a:pPr>
              <a:spcAft>
                <a:spcPts val="600"/>
              </a:spcAft>
              <a:defRPr sz="1300" b="0">
                <a:solidFill>
                  <a:srgbClr val="1E293B"/>
                </a:solidFill>
                <a:latin typeface="Arial"/>
              </a:defRPr>
            </a:pPr>
            <a:r>
              <a:t>• Concurrent APIs: Integrations with Gemini, Groq, Qwen, Liquid, Cohere.</a:t>
            </a:r>
          </a:p>
          <a:p>
            <a:pPr>
              <a:spcAft>
                <a:spcPts val="600"/>
              </a:spcAft>
              <a:defRPr sz="1300" b="0">
                <a:solidFill>
                  <a:srgbClr val="1E293B"/>
                </a:solidFill>
                <a:latin typeface="Arial"/>
              </a:defRPr>
            </a:pPr>
            <a:r>
              <a:t>• Core AI Tools: Automated Consensus summaries, Best Response rating judge.</a:t>
            </a:r>
          </a:p>
          <a:p>
            <a:pPr>
              <a:spcAft>
                <a:spcPts val="600"/>
              </a:spcAft>
              <a:defRPr sz="1300" b="0">
                <a:solidFill>
                  <a:srgbClr val="1E293B"/>
                </a:solidFill>
                <a:latin typeface="Arial"/>
              </a:defRPr>
            </a:pPr>
            <a:r>
              <a:t>• Synchronized State: Differential MongoDB syncing using Mongoose bulk writes.</a:t>
            </a:r>
          </a:p>
          <a:p>
            <a:pPr>
              <a:spcAft>
                <a:spcPts val="600"/>
              </a:spcAft>
              <a:defRPr sz="1300" b="0">
                <a:solidFill>
                  <a:srgbClr val="1E293B"/>
                </a:solidFill>
                <a:latin typeface="Arial"/>
              </a:defRPr>
            </a:pPr>
            <a:r>
              <a:t>• Secure Vault: Secure local vaults managing developer keys.</a:t>
            </a:r>
          </a:p>
        </p:txBody>
      </p:sp>
      <p:sp>
        <p:nvSpPr>
          <p:cNvPr id="6" name="Rounded Rectangle 5"/>
          <p:cNvSpPr/>
          <p:nvPr/>
        </p:nvSpPr>
        <p:spPr>
          <a:xfrm>
            <a:off x="6382512" y="1371600"/>
            <a:ext cx="5120640" cy="4572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1554480"/>
            <a:ext cx="4663440" cy="4206240"/>
          </a:xfrm>
          <a:prstGeom prst="rect">
            <a:avLst/>
          </a:prstGeom>
          <a:noFill/>
        </p:spPr>
        <p:txBody>
          <a:bodyPr wrap="square">
            <a:spAutoFit/>
          </a:bodyPr>
          <a:lstStyle/>
          <a:p>
            <a:pPr>
              <a:spcAft>
                <a:spcPts val="600"/>
              </a:spcAft>
              <a:defRPr sz="1800" b="1">
                <a:solidFill>
                  <a:srgbClr val="4F46E5"/>
                </a:solidFill>
                <a:latin typeface="Arial"/>
              </a:defRPr>
            </a:pPr>
            <a:r>
              <a:t>Future Roadmap Expansion:</a:t>
            </a:r>
          </a:p>
          <a:p>
            <a:pPr>
              <a:spcAft>
                <a:spcPts val="600"/>
              </a:spcAft>
              <a:defRPr sz="1300" b="0">
                <a:solidFill>
                  <a:srgbClr val="1E293B"/>
                </a:solidFill>
                <a:latin typeface="Arial"/>
              </a:defRPr>
            </a:pPr>
            <a:r>
              <a:t>• Image Analysis: Upload image assets for object categorization.</a:t>
            </a:r>
          </a:p>
          <a:p>
            <a:pPr>
              <a:spcAft>
                <a:spcPts val="600"/>
              </a:spcAft>
              <a:defRPr sz="1300" b="0">
                <a:solidFill>
                  <a:srgbClr val="1E293B"/>
                </a:solidFill>
                <a:latin typeface="Arial"/>
              </a:defRPr>
            </a:pPr>
            <a:r>
              <a:t>• OCR Scanning: Parse local documents and PDFs into prompt contexts.</a:t>
            </a:r>
          </a:p>
          <a:p>
            <a:pPr>
              <a:spcAft>
                <a:spcPts val="600"/>
              </a:spcAft>
              <a:defRPr sz="1300" b="0">
                <a:solidFill>
                  <a:srgbClr val="1E293B"/>
                </a:solidFill>
                <a:latin typeface="Arial"/>
              </a:defRPr>
            </a:pPr>
            <a:r>
              <a:t>• Extension Addons: Browser plugins for instant sidebar prompting.</a:t>
            </a:r>
          </a:p>
          <a:p>
            <a:pPr>
              <a:spcAft>
                <a:spcPts val="600"/>
              </a:spcAft>
              <a:defRPr sz="1300" b="0">
                <a:solidFill>
                  <a:srgbClr val="1E293B"/>
                </a:solidFill>
                <a:latin typeface="Arial"/>
              </a:defRPr>
            </a:pPr>
            <a:r>
              <a:t>• Cloud Sync: Secure remote key syncs using zero-knowledge encryption.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Application Areas</a:t>
            </a:r>
          </a:p>
        </p:txBody>
      </p:sp>
      <p:sp>
        <p:nvSpPr>
          <p:cNvPr id="4" name="Rounded Rectangle 3"/>
          <p:cNvSpPr/>
          <p:nvPr/>
        </p:nvSpPr>
        <p:spPr>
          <a:xfrm>
            <a:off x="685800"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Education</a:t>
            </a:r>
          </a:p>
          <a:p>
            <a:pPr>
              <a:spcAft>
                <a:spcPts val="600"/>
              </a:spcAft>
              <a:defRPr sz="1100" b="0">
                <a:solidFill>
                  <a:srgbClr val="64748B"/>
                </a:solidFill>
                <a:latin typeface="Arial"/>
              </a:defRPr>
            </a:pPr>
            <a:r>
              <a:t>Students and academic scholars compare model reasoning pathways and logic formats side-by-side.</a:t>
            </a:r>
          </a:p>
        </p:txBody>
      </p:sp>
      <p:sp>
        <p:nvSpPr>
          <p:cNvPr id="6" name="Rounded Rectangle 5"/>
          <p:cNvSpPr/>
          <p:nvPr/>
        </p:nvSpPr>
        <p:spPr>
          <a:xfrm>
            <a:off x="4453128"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1728"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Software Development</a:t>
            </a:r>
          </a:p>
          <a:p>
            <a:pPr>
              <a:spcAft>
                <a:spcPts val="600"/>
              </a:spcAft>
              <a:defRPr sz="1100" b="0">
                <a:solidFill>
                  <a:srgbClr val="64748B"/>
                </a:solidFill>
                <a:latin typeface="Arial"/>
              </a:defRPr>
            </a:pPr>
            <a:r>
              <a:t>Developers review code snippet alternatives generated concurrently to select optimal scripts.</a:t>
            </a:r>
          </a:p>
        </p:txBody>
      </p:sp>
      <p:sp>
        <p:nvSpPr>
          <p:cNvPr id="8" name="Rounded Rectangle 7"/>
          <p:cNvSpPr/>
          <p:nvPr/>
        </p:nvSpPr>
        <p:spPr>
          <a:xfrm>
            <a:off x="8211312"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Research</a:t>
            </a:r>
          </a:p>
          <a:p>
            <a:pPr>
              <a:spcAft>
                <a:spcPts val="600"/>
              </a:spcAft>
              <a:defRPr sz="1100" b="0">
                <a:solidFill>
                  <a:srgbClr val="64748B"/>
                </a:solidFill>
                <a:latin typeface="Arial"/>
              </a:defRPr>
            </a:pPr>
            <a:r>
              <a:t>Prompt engineering researchers benchmark model latencies, token lengths, and response qualities.</a:t>
            </a:r>
          </a:p>
        </p:txBody>
      </p:sp>
      <p:sp>
        <p:nvSpPr>
          <p:cNvPr id="10" name="Rounded Rectangle 9"/>
          <p:cNvSpPr/>
          <p:nvPr/>
        </p:nvSpPr>
        <p:spPr>
          <a:xfrm>
            <a:off x="685800"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Business</a:t>
            </a:r>
          </a:p>
          <a:p>
            <a:pPr>
              <a:spcAft>
                <a:spcPts val="600"/>
              </a:spcAft>
              <a:defRPr sz="1100" b="0">
                <a:solidFill>
                  <a:srgbClr val="64748B"/>
                </a:solidFill>
                <a:latin typeface="Arial"/>
              </a:defRPr>
            </a:pPr>
            <a:r>
              <a:t>Marketing teams contrast copywriting models to select the most engaging tone variations.</a:t>
            </a:r>
          </a:p>
        </p:txBody>
      </p:sp>
      <p:sp>
        <p:nvSpPr>
          <p:cNvPr id="12" name="Rounded Rectangle 11"/>
          <p:cNvSpPr/>
          <p:nvPr/>
        </p:nvSpPr>
        <p:spPr>
          <a:xfrm>
            <a:off x="4453128"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Content Creation</a:t>
            </a:r>
          </a:p>
          <a:p>
            <a:pPr>
              <a:spcAft>
                <a:spcPts val="600"/>
              </a:spcAft>
              <a:defRPr sz="1100" b="0">
                <a:solidFill>
                  <a:srgbClr val="64748B"/>
                </a:solidFill>
                <a:latin typeface="Arial"/>
              </a:defRPr>
            </a:pPr>
            <a:r>
              <a:t>Writers leverage model styling instructions (Expertise presets) to speed up editorial creation.</a:t>
            </a:r>
          </a:p>
        </p:txBody>
      </p:sp>
      <p:sp>
        <p:nvSpPr>
          <p:cNvPr id="14" name="Rounded Rectangle 13"/>
          <p:cNvSpPr/>
          <p:nvPr/>
        </p:nvSpPr>
        <p:spPr>
          <a:xfrm>
            <a:off x="8211312"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Personal Productivity</a:t>
            </a:r>
          </a:p>
          <a:p>
            <a:pPr>
              <a:spcAft>
                <a:spcPts val="600"/>
              </a:spcAft>
              <a:defRPr sz="1100" b="0">
                <a:solidFill>
                  <a:srgbClr val="64748B"/>
                </a:solidFill>
                <a:latin typeface="Arial"/>
              </a:defRPr>
            </a:pPr>
            <a:r>
              <a:t>Individuals run unified automated daily workflows without multi-tab playground browser switching.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Existing System Deficiencies</a:t>
            </a:r>
          </a:p>
        </p:txBody>
      </p:sp>
      <p:graphicFrame>
        <p:nvGraphicFramePr>
          <p:cNvPr id="4" name="Table 3"/>
          <p:cNvGraphicFramePr>
            <a:graphicFrameLocks noGrp="1"/>
          </p:cNvGraphicFramePr>
          <p:nvPr/>
        </p:nvGraphicFramePr>
        <p:xfrm>
          <a:off x="914400" y="1645920"/>
          <a:ext cx="10360152" cy="3840480"/>
        </p:xfrm>
        <a:graphic>
          <a:graphicData uri="http://schemas.openxmlformats.org/drawingml/2006/table">
            <a:tbl>
              <a:tblPr firstRow="1" bandRow="1">
                <a:tableStyleId>{5C22544A-7EE6-4342-B048-85BDC9FD1C3A}</a:tableStyleId>
              </a:tblPr>
              <a:tblGrid>
                <a:gridCol w="3453384"/>
                <a:gridCol w="3453384"/>
                <a:gridCol w="3453384"/>
              </a:tblGrid>
              <a:tr h="640080">
                <a:tc>
                  <a:txBody>
                    <a:bodyPr/>
                    <a:lstStyle/>
                    <a:p>
                      <a:r>
                        <a:rPr b="1" sz="1200">
                          <a:solidFill>
                            <a:srgbClr val="FFFFFF"/>
                          </a:solidFill>
                        </a:rPr>
                        <a:t>Feature</a:t>
                      </a:r>
                    </a:p>
                  </a:txBody>
                  <a:tcPr>
                    <a:solidFill>
                      <a:srgbClr val="4F46E5"/>
                    </a:solidFill>
                  </a:tcPr>
                </a:tc>
                <a:tc>
                  <a:txBody>
                    <a:bodyPr/>
                    <a:lstStyle/>
                    <a:p>
                      <a:r>
                        <a:rPr b="1" sz="1200">
                          <a:solidFill>
                            <a:srgbClr val="FFFFFF"/>
                          </a:solidFill>
                        </a:rPr>
                        <a:t>Traditional Playgrounds</a:t>
                      </a:r>
                    </a:p>
                  </a:txBody>
                  <a:tcPr>
                    <a:solidFill>
                      <a:srgbClr val="4F46E5"/>
                    </a:solidFill>
                  </a:tcPr>
                </a:tc>
                <a:tc>
                  <a:txBody>
                    <a:bodyPr/>
                    <a:lstStyle/>
                    <a:p>
                      <a:r>
                        <a:rPr b="1" sz="1200">
                          <a:solidFill>
                            <a:srgbClr val="FFFFFF"/>
                          </a:solidFill>
                        </a:rPr>
                        <a:t>MULTIAI Workbench</a:t>
                      </a:r>
                    </a:p>
                  </a:txBody>
                  <a:tcPr>
                    <a:solidFill>
                      <a:srgbClr val="4F46E5"/>
                    </a:solidFill>
                  </a:tcPr>
                </a:tc>
              </a:tr>
              <a:tr h="640080">
                <a:tc>
                  <a:txBody>
                    <a:bodyPr/>
                    <a:lstStyle/>
                    <a:p>
                      <a:r>
                        <a:rPr sz="1100">
                          <a:solidFill>
                            <a:srgbClr val="1E293B"/>
                          </a:solidFill>
                        </a:rPr>
                        <a:t>Model Panel views</a:t>
                      </a:r>
                    </a:p>
                  </a:txBody>
                  <a:tcPr>
                    <a:solidFill>
                      <a:srgbClr val="FFFFFF"/>
                    </a:solidFill>
                  </a:tcPr>
                </a:tc>
                <a:tc>
                  <a:txBody>
                    <a:bodyPr/>
                    <a:lstStyle/>
                    <a:p>
                      <a:r>
                        <a:rPr sz="1100">
                          <a:solidFill>
                            <a:srgbClr val="1E293B"/>
                          </a:solidFill>
                        </a:rPr>
                        <a:t>Single panel or Sequential selection</a:t>
                      </a:r>
                    </a:p>
                  </a:txBody>
                  <a:tcPr>
                    <a:solidFill>
                      <a:srgbClr val="FFFFFF"/>
                    </a:solidFill>
                  </a:tcPr>
                </a:tc>
                <a:tc>
                  <a:txBody>
                    <a:bodyPr/>
                    <a:lstStyle/>
                    <a:p>
                      <a:r>
                        <a:rPr sz="1100">
                          <a:solidFill>
                            <a:srgbClr val="1E293B"/>
                          </a:solidFill>
                        </a:rPr>
                        <a:t>Side-by-side dynamic grid panels</a:t>
                      </a:r>
                    </a:p>
                  </a:txBody>
                  <a:tcPr>
                    <a:solidFill>
                      <a:srgbClr val="FFFFFF"/>
                    </a:solidFill>
                  </a:tcPr>
                </a:tc>
              </a:tr>
              <a:tr h="640080">
                <a:tc>
                  <a:txBody>
                    <a:bodyPr/>
                    <a:lstStyle/>
                    <a:p>
                      <a:r>
                        <a:rPr sz="1100">
                          <a:solidFill>
                            <a:srgbClr val="1E293B"/>
                          </a:solidFill>
                        </a:rPr>
                        <a:t>Execution Routing</a:t>
                      </a:r>
                    </a:p>
                  </a:txBody>
                  <a:tcPr>
                    <a:solidFill>
                      <a:srgbClr val="F8FAFC"/>
                    </a:solidFill>
                  </a:tcPr>
                </a:tc>
                <a:tc>
                  <a:txBody>
                    <a:bodyPr/>
                    <a:lstStyle/>
                    <a:p>
                      <a:r>
                        <a:rPr sz="1100">
                          <a:solidFill>
                            <a:srgbClr val="1E293B"/>
                          </a:solidFill>
                        </a:rPr>
                        <a:t>Linear queries, slow models block threads</a:t>
                      </a:r>
                    </a:p>
                  </a:txBody>
                  <a:tcPr>
                    <a:solidFill>
                      <a:srgbClr val="F8FAFC"/>
                    </a:solidFill>
                  </a:tcPr>
                </a:tc>
                <a:tc>
                  <a:txBody>
                    <a:bodyPr/>
                    <a:lstStyle/>
                    <a:p>
                      <a:r>
                        <a:rPr sz="1100">
                          <a:solidFill>
                            <a:srgbClr val="1E293B"/>
                          </a:solidFill>
                        </a:rPr>
                        <a:t>Parallel async execution (Promise.allSettled)</a:t>
                      </a:r>
                    </a:p>
                  </a:txBody>
                  <a:tcPr>
                    <a:solidFill>
                      <a:srgbClr val="F8FAFC"/>
                    </a:solidFill>
                  </a:tcPr>
                </a:tc>
              </a:tr>
              <a:tr h="640080">
                <a:tc>
                  <a:txBody>
                    <a:bodyPr/>
                    <a:lstStyle/>
                    <a:p>
                      <a:r>
                        <a:rPr sz="1100">
                          <a:solidFill>
                            <a:srgbClr val="1E293B"/>
                          </a:solidFill>
                        </a:rPr>
                        <a:t>Consensus summaries</a:t>
                      </a:r>
                    </a:p>
                  </a:txBody>
                  <a:tcPr>
                    <a:solidFill>
                      <a:srgbClr val="FFFFFF"/>
                    </a:solidFill>
                  </a:tcPr>
                </a:tc>
                <a:tc>
                  <a:txBody>
                    <a:bodyPr/>
                    <a:lstStyle/>
                    <a:p>
                      <a:r>
                        <a:rPr sz="1100">
                          <a:solidFill>
                            <a:srgbClr val="1E293B"/>
                          </a:solidFill>
                        </a:rPr>
                        <a:t>None, user manual comparison</a:t>
                      </a:r>
                    </a:p>
                  </a:txBody>
                  <a:tcPr>
                    <a:solidFill>
                      <a:srgbClr val="FFFFFF"/>
                    </a:solidFill>
                  </a:tcPr>
                </a:tc>
                <a:tc>
                  <a:txBody>
                    <a:bodyPr/>
                    <a:lstStyle/>
                    <a:p>
                      <a:r>
                        <a:rPr sz="1100">
                          <a:solidFill>
                            <a:srgbClr val="1E293B"/>
                          </a:solidFill>
                        </a:rPr>
                        <a:t>AI-synthesized consensus fallbacks engine</a:t>
                      </a:r>
                    </a:p>
                  </a:txBody>
                  <a:tcPr>
                    <a:solidFill>
                      <a:srgbClr val="FFFFFF"/>
                    </a:solidFill>
                  </a:tcPr>
                </a:tc>
              </a:tr>
              <a:tr h="640080">
                <a:tc>
                  <a:txBody>
                    <a:bodyPr/>
                    <a:lstStyle/>
                    <a:p>
                      <a:r>
                        <a:rPr sz="1100">
                          <a:solidFill>
                            <a:srgbClr val="1E293B"/>
                          </a:solidFill>
                        </a:rPr>
                        <a:t>Key vaults (BYOK)</a:t>
                      </a:r>
                    </a:p>
                  </a:txBody>
                  <a:tcPr>
                    <a:solidFill>
                      <a:srgbClr val="F8FAFC"/>
                    </a:solidFill>
                  </a:tcPr>
                </a:tc>
                <a:tc>
                  <a:txBody>
                    <a:bodyPr/>
                    <a:lstStyle/>
                    <a:p>
                      <a:r>
                        <a:rPr sz="1100">
                          <a:solidFill>
                            <a:srgbClr val="1E293B"/>
                          </a:solidFill>
                        </a:rPr>
                        <a:t>Account wide or none (exposes keys)</a:t>
                      </a:r>
                    </a:p>
                  </a:txBody>
                  <a:tcPr>
                    <a:solidFill>
                      <a:srgbClr val="F8FAFC"/>
                    </a:solidFill>
                  </a:tcPr>
                </a:tc>
                <a:tc>
                  <a:txBody>
                    <a:bodyPr/>
                    <a:lstStyle/>
                    <a:p>
                      <a:r>
                        <a:rPr sz="1100">
                          <a:solidFill>
                            <a:srgbClr val="1E293B"/>
                          </a:solidFill>
                        </a:rPr>
                        <a:t>Local vaults managed via client-side storage</a:t>
                      </a:r>
                    </a:p>
                  </a:txBody>
                  <a:tcPr>
                    <a:solidFill>
                      <a:srgbClr val="F8FAFC"/>
                    </a:solidFill>
                  </a:tcPr>
                </a:tc>
              </a:tr>
              <a:tr h="640080">
                <a:tc>
                  <a:txBody>
                    <a:bodyPr/>
                    <a:lstStyle/>
                    <a:p>
                      <a:r>
                        <a:rPr sz="1100">
                          <a:solidFill>
                            <a:srgbClr val="1E293B"/>
                          </a:solidFill>
                        </a:rPr>
                        <a:t>Session Sync</a:t>
                      </a:r>
                    </a:p>
                  </a:txBody>
                  <a:tcPr>
                    <a:solidFill>
                      <a:srgbClr val="FFFFFF"/>
                    </a:solidFill>
                  </a:tcPr>
                </a:tc>
                <a:tc>
                  <a:txBody>
                    <a:bodyPr/>
                    <a:lstStyle/>
                    <a:p>
                      <a:r>
                        <a:rPr sz="1100">
                          <a:solidFill>
                            <a:srgbClr val="1E293B"/>
                          </a:solidFill>
                        </a:rPr>
                        <a:t>Clears &amp; replaces records (data loss risks)</a:t>
                      </a:r>
                    </a:p>
                  </a:txBody>
                  <a:tcPr>
                    <a:solidFill>
                      <a:srgbClr val="FFFFFF"/>
                    </a:solidFill>
                  </a:tcPr>
                </a:tc>
                <a:tc>
                  <a:txBody>
                    <a:bodyPr/>
                    <a:lstStyle/>
                    <a:p>
                      <a:r>
                        <a:rPr sz="1100">
                          <a:solidFill>
                            <a:srgbClr val="1E293B"/>
                          </a:solidFill>
                        </a:rPr>
                        <a:t>Resilient Mongoose differential bulkWrite syncs</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Proposed System Workflow</a:t>
            </a:r>
          </a:p>
        </p:txBody>
      </p:sp>
      <p:sp>
        <p:nvSpPr>
          <p:cNvPr id="4" name="Rounded Rectangle 3"/>
          <p:cNvSpPr/>
          <p:nvPr/>
        </p:nvSpPr>
        <p:spPr>
          <a:xfrm>
            <a:off x="914400" y="2926080"/>
            <a:ext cx="182880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017520"/>
            <a:ext cx="1645920" cy="1097280"/>
          </a:xfrm>
          <a:prstGeom prst="rect">
            <a:avLst/>
          </a:prstGeom>
          <a:noFill/>
        </p:spPr>
        <p:txBody>
          <a:bodyPr wrap="square">
            <a:spAutoFit/>
          </a:bodyPr>
          <a:lstStyle/>
          <a:p>
            <a:pPr>
              <a:spcAft>
                <a:spcPts val="600"/>
              </a:spcAft>
              <a:defRPr sz="1100" b="1">
                <a:solidFill>
                  <a:srgbClr val="2563EB"/>
                </a:solidFill>
                <a:latin typeface="Arial"/>
              </a:defRPr>
            </a:pPr>
            <a:r>
              <a:t>User Prompt</a:t>
            </a:r>
          </a:p>
          <a:p>
            <a:pPr>
              <a:spcAft>
                <a:spcPts val="600"/>
              </a:spcAft>
              <a:defRPr sz="800" b="0">
                <a:solidFill>
                  <a:srgbClr val="64748B"/>
                </a:solidFill>
                <a:latin typeface="Arial"/>
              </a:defRPr>
            </a:pPr>
            <a:r>
              <a:t>Text or voice queries entered in central bar.</a:t>
            </a:r>
          </a:p>
        </p:txBody>
      </p:sp>
      <p:sp>
        <p:nvSpPr>
          <p:cNvPr id="6" name="Right Arrow 5"/>
          <p:cNvSpPr/>
          <p:nvPr/>
        </p:nvSpPr>
        <p:spPr>
          <a:xfrm>
            <a:off x="2834640" y="3429000"/>
            <a:ext cx="731520" cy="27432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0" y="2926080"/>
            <a:ext cx="182880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3017520"/>
            <a:ext cx="1645920" cy="1097280"/>
          </a:xfrm>
          <a:prstGeom prst="rect">
            <a:avLst/>
          </a:prstGeom>
          <a:noFill/>
        </p:spPr>
        <p:txBody>
          <a:bodyPr wrap="square">
            <a:spAutoFit/>
          </a:bodyPr>
          <a:lstStyle/>
          <a:p>
            <a:pPr>
              <a:spcAft>
                <a:spcPts val="600"/>
              </a:spcAft>
              <a:defRPr sz="1100" b="1">
                <a:solidFill>
                  <a:srgbClr val="2563EB"/>
                </a:solidFill>
                <a:latin typeface="Arial"/>
              </a:defRPr>
            </a:pPr>
            <a:r>
              <a:t>Multi-AI Router</a:t>
            </a:r>
          </a:p>
          <a:p>
            <a:pPr>
              <a:spcAft>
                <a:spcPts val="600"/>
              </a:spcAft>
              <a:defRPr sz="800" b="0">
                <a:solidFill>
                  <a:srgbClr val="64748B"/>
                </a:solidFill>
                <a:latin typeface="Arial"/>
              </a:defRPr>
            </a:pPr>
            <a:r>
              <a:t>Express gateway maps parallel integrations.</a:t>
            </a:r>
          </a:p>
        </p:txBody>
      </p:sp>
      <p:sp>
        <p:nvSpPr>
          <p:cNvPr id="9" name="Right Arrow 8"/>
          <p:cNvSpPr/>
          <p:nvPr/>
        </p:nvSpPr>
        <p:spPr>
          <a:xfrm>
            <a:off x="6035040" y="3429000"/>
            <a:ext cx="731520" cy="27432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2926080"/>
            <a:ext cx="182880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3017520"/>
            <a:ext cx="1645920" cy="1097280"/>
          </a:xfrm>
          <a:prstGeom prst="rect">
            <a:avLst/>
          </a:prstGeom>
          <a:noFill/>
        </p:spPr>
        <p:txBody>
          <a:bodyPr wrap="square">
            <a:spAutoFit/>
          </a:bodyPr>
          <a:lstStyle/>
          <a:p>
            <a:pPr>
              <a:spcAft>
                <a:spcPts val="600"/>
              </a:spcAft>
              <a:defRPr sz="1100" b="1">
                <a:solidFill>
                  <a:srgbClr val="2563EB"/>
                </a:solidFill>
                <a:latin typeface="Arial"/>
              </a:defRPr>
            </a:pPr>
            <a:r>
              <a:t>Parallel Fetch</a:t>
            </a:r>
          </a:p>
          <a:p>
            <a:pPr>
              <a:spcAft>
                <a:spcPts val="600"/>
              </a:spcAft>
              <a:defRPr sz="800" b="0">
                <a:solidFill>
                  <a:srgbClr val="64748B"/>
                </a:solidFill>
                <a:latin typeface="Arial"/>
              </a:defRPr>
            </a:pPr>
            <a:r>
              <a:t>Concurrently query Gemini, Groq, Cohere API.</a:t>
            </a:r>
          </a:p>
        </p:txBody>
      </p:sp>
      <p:sp>
        <p:nvSpPr>
          <p:cNvPr id="12" name="Right Arrow 11"/>
          <p:cNvSpPr/>
          <p:nvPr/>
        </p:nvSpPr>
        <p:spPr>
          <a:xfrm>
            <a:off x="9235440" y="3429000"/>
            <a:ext cx="731520" cy="27432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0" y="2926080"/>
            <a:ext cx="182880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0" y="3017520"/>
            <a:ext cx="1645920" cy="1097280"/>
          </a:xfrm>
          <a:prstGeom prst="rect">
            <a:avLst/>
          </a:prstGeom>
          <a:noFill/>
        </p:spPr>
        <p:txBody>
          <a:bodyPr wrap="square">
            <a:spAutoFit/>
          </a:bodyPr>
          <a:lstStyle/>
          <a:p>
            <a:pPr>
              <a:spcAft>
                <a:spcPts val="600"/>
              </a:spcAft>
              <a:defRPr sz="1100" b="1">
                <a:solidFill>
                  <a:srgbClr val="2563EB"/>
                </a:solidFill>
                <a:latin typeface="Arial"/>
              </a:defRPr>
            </a:pPr>
            <a:r>
              <a:t>Unified Display</a:t>
            </a:r>
          </a:p>
          <a:p>
            <a:pPr>
              <a:spcAft>
                <a:spcPts val="600"/>
              </a:spcAft>
              <a:defRPr sz="800" b="0">
                <a:solidFill>
                  <a:srgbClr val="64748B"/>
                </a:solidFill>
                <a:latin typeface="Arial"/>
              </a:defRPr>
            </a:pPr>
            <a:r>
              <a:t>Typewritten cards display latent statistics.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Technology Stack</a:t>
            </a:r>
          </a:p>
        </p:txBody>
      </p:sp>
      <p:sp>
        <p:nvSpPr>
          <p:cNvPr id="4" name="Rounded Rectangle 3"/>
          <p:cNvSpPr/>
          <p:nvPr/>
        </p:nvSpPr>
        <p:spPr>
          <a:xfrm>
            <a:off x="685800" y="1645920"/>
            <a:ext cx="2560320" cy="41148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2286000" cy="3657600"/>
          </a:xfrm>
          <a:prstGeom prst="rect">
            <a:avLst/>
          </a:prstGeom>
          <a:noFill/>
        </p:spPr>
        <p:txBody>
          <a:bodyPr wrap="square">
            <a:spAutoFit/>
          </a:bodyPr>
          <a:lstStyle/>
          <a:p>
            <a:pPr>
              <a:spcAft>
                <a:spcPts val="600"/>
              </a:spcAft>
              <a:defRPr sz="1500" b="1">
                <a:solidFill>
                  <a:srgbClr val="2563EB"/>
                </a:solidFill>
                <a:latin typeface="Arial"/>
              </a:defRPr>
            </a:pPr>
            <a:r>
              <a:t>Frontend</a:t>
            </a:r>
          </a:p>
          <a:p>
            <a:pPr>
              <a:spcAft>
                <a:spcPts val="600"/>
              </a:spcAft>
              <a:defRPr sz="1000" b="0">
                <a:solidFill>
                  <a:srgbClr val="4F46E5"/>
                </a:solidFill>
                <a:latin typeface="Arial"/>
              </a:defRPr>
            </a:pPr>
            <a:r>
              <a:t>Client Presentation Layer</a:t>
            </a:r>
          </a:p>
          <a:p>
            <a:pPr>
              <a:spcBef>
                <a:spcPts val="1200"/>
              </a:spcBef>
              <a:spcAft>
                <a:spcPts val="600"/>
              </a:spcAft>
              <a:defRPr sz="1100" b="0">
                <a:solidFill>
                  <a:srgbClr val="64748B"/>
                </a:solidFill>
                <a:latin typeface="Arial"/>
              </a:defRPr>
            </a:pPr>
            <a:r>
              <a:t>• HTML5 &amp; CSS Variables</a:t>
            </a:r>
            <a:br/>
            <a:r>
              <a:t>• ES6+ JavaScript</a:t>
            </a:r>
            <a:br/>
            <a:r>
              <a:t>• Chart.js Visualization</a:t>
            </a:r>
            <a:br/>
            <a:r>
              <a:t>• Web Speech API</a:t>
            </a:r>
          </a:p>
        </p:txBody>
      </p:sp>
      <p:sp>
        <p:nvSpPr>
          <p:cNvPr id="6" name="Rounded Rectangle 5"/>
          <p:cNvSpPr/>
          <p:nvPr/>
        </p:nvSpPr>
        <p:spPr>
          <a:xfrm>
            <a:off x="3538728" y="1645920"/>
            <a:ext cx="2560320" cy="41148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75888" y="1828800"/>
            <a:ext cx="2286000" cy="3657600"/>
          </a:xfrm>
          <a:prstGeom prst="rect">
            <a:avLst/>
          </a:prstGeom>
          <a:noFill/>
        </p:spPr>
        <p:txBody>
          <a:bodyPr wrap="square">
            <a:spAutoFit/>
          </a:bodyPr>
          <a:lstStyle/>
          <a:p>
            <a:pPr>
              <a:spcAft>
                <a:spcPts val="600"/>
              </a:spcAft>
              <a:defRPr sz="1500" b="1">
                <a:solidFill>
                  <a:srgbClr val="2563EB"/>
                </a:solidFill>
                <a:latin typeface="Arial"/>
              </a:defRPr>
            </a:pPr>
            <a:r>
              <a:t>Backend Gateway</a:t>
            </a:r>
          </a:p>
          <a:p>
            <a:pPr>
              <a:spcAft>
                <a:spcPts val="600"/>
              </a:spcAft>
              <a:defRPr sz="1000" b="0">
                <a:solidFill>
                  <a:srgbClr val="4F46E5"/>
                </a:solidFill>
                <a:latin typeface="Arial"/>
              </a:defRPr>
            </a:pPr>
            <a:r>
              <a:t>REST APIs Router Layer</a:t>
            </a:r>
          </a:p>
          <a:p>
            <a:pPr>
              <a:spcBef>
                <a:spcPts val="1200"/>
              </a:spcBef>
              <a:spcAft>
                <a:spcPts val="600"/>
              </a:spcAft>
              <a:defRPr sz="1100" b="0">
                <a:solidFill>
                  <a:srgbClr val="64748B"/>
                </a:solidFill>
                <a:latin typeface="Arial"/>
              </a:defRPr>
            </a:pPr>
            <a:r>
              <a:t>• Node.js runtime</a:t>
            </a:r>
            <a:br/>
            <a:r>
              <a:t>• Express.js framework</a:t>
            </a:r>
            <a:br/>
            <a:r>
              <a:t>• Axios Http client</a:t>
            </a:r>
            <a:br/>
            <a:r>
              <a:t>• JWT Token security</a:t>
            </a:r>
          </a:p>
        </p:txBody>
      </p:sp>
      <p:sp>
        <p:nvSpPr>
          <p:cNvPr id="8" name="Rounded Rectangle 7"/>
          <p:cNvSpPr/>
          <p:nvPr/>
        </p:nvSpPr>
        <p:spPr>
          <a:xfrm>
            <a:off x="6382512" y="1645920"/>
            <a:ext cx="2560320" cy="41148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828800"/>
            <a:ext cx="2286000" cy="3657600"/>
          </a:xfrm>
          <a:prstGeom prst="rect">
            <a:avLst/>
          </a:prstGeom>
          <a:noFill/>
        </p:spPr>
        <p:txBody>
          <a:bodyPr wrap="square">
            <a:spAutoFit/>
          </a:bodyPr>
          <a:lstStyle/>
          <a:p>
            <a:pPr>
              <a:spcAft>
                <a:spcPts val="600"/>
              </a:spcAft>
              <a:defRPr sz="1500" b="1">
                <a:solidFill>
                  <a:srgbClr val="2563EB"/>
                </a:solidFill>
                <a:latin typeface="Arial"/>
              </a:defRPr>
            </a:pPr>
            <a:r>
              <a:t>Database Layer</a:t>
            </a:r>
          </a:p>
          <a:p>
            <a:pPr>
              <a:spcAft>
                <a:spcPts val="600"/>
              </a:spcAft>
              <a:defRPr sz="1000" b="0">
                <a:solidFill>
                  <a:srgbClr val="4F46E5"/>
                </a:solidFill>
                <a:latin typeface="Arial"/>
              </a:defRPr>
            </a:pPr>
            <a:r>
              <a:t>Session Data Storage</a:t>
            </a:r>
          </a:p>
          <a:p>
            <a:pPr>
              <a:spcBef>
                <a:spcPts val="1200"/>
              </a:spcBef>
              <a:spcAft>
                <a:spcPts val="600"/>
              </a:spcAft>
              <a:defRPr sz="1100" b="0">
                <a:solidFill>
                  <a:srgbClr val="64748B"/>
                </a:solidFill>
                <a:latin typeface="Arial"/>
              </a:defRPr>
            </a:pPr>
            <a:r>
              <a:t>• MongoDB Community</a:t>
            </a:r>
            <a:br/>
            <a:r>
              <a:t>• Mongoose ODM mapping</a:t>
            </a:r>
            <a:br/>
            <a:r>
              <a:t>• Resilient bulkWrite syncs</a:t>
            </a:r>
            <a:br/>
            <a:r>
              <a:t>• Database fallbacks</a:t>
            </a:r>
          </a:p>
        </p:txBody>
      </p:sp>
      <p:sp>
        <p:nvSpPr>
          <p:cNvPr id="10" name="Rounded Rectangle 9"/>
          <p:cNvSpPr/>
          <p:nvPr/>
        </p:nvSpPr>
        <p:spPr>
          <a:xfrm>
            <a:off x="9226296" y="1645920"/>
            <a:ext cx="2560320" cy="41148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63456" y="1828800"/>
            <a:ext cx="2286000" cy="3657600"/>
          </a:xfrm>
          <a:prstGeom prst="rect">
            <a:avLst/>
          </a:prstGeom>
          <a:noFill/>
        </p:spPr>
        <p:txBody>
          <a:bodyPr wrap="square">
            <a:spAutoFit/>
          </a:bodyPr>
          <a:lstStyle/>
          <a:p>
            <a:pPr>
              <a:spcAft>
                <a:spcPts val="600"/>
              </a:spcAft>
              <a:defRPr sz="1500" b="1">
                <a:solidFill>
                  <a:srgbClr val="2563EB"/>
                </a:solidFill>
                <a:latin typeface="Arial"/>
              </a:defRPr>
            </a:pPr>
            <a:r>
              <a:t>AI Providers</a:t>
            </a:r>
          </a:p>
          <a:p>
            <a:pPr>
              <a:spcAft>
                <a:spcPts val="600"/>
              </a:spcAft>
              <a:defRPr sz="1000" b="0">
                <a:solidFill>
                  <a:srgbClr val="4F46E5"/>
                </a:solidFill>
                <a:latin typeface="Arial"/>
              </a:defRPr>
            </a:pPr>
            <a:r>
              <a:t>Third-party APIs Layer</a:t>
            </a:r>
          </a:p>
          <a:p>
            <a:pPr>
              <a:spcBef>
                <a:spcPts val="1200"/>
              </a:spcBef>
              <a:spcAft>
                <a:spcPts val="600"/>
              </a:spcAft>
              <a:defRPr sz="1100" b="0">
                <a:solidFill>
                  <a:srgbClr val="64748B"/>
                </a:solidFill>
                <a:latin typeface="Arial"/>
              </a:defRPr>
            </a:pPr>
            <a:r>
              <a:t>• Gemini Flash REST</a:t>
            </a:r>
            <a:br/>
            <a:r>
              <a:t>• OpenRouter Gateway</a:t>
            </a:r>
            <a:br/>
            <a:r>
              <a:t>• Groq Cloud API</a:t>
            </a:r>
            <a:br/>
            <a:r>
              <a:t>• Cohere Command SDK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System Architecture Diagram</a:t>
            </a:r>
          </a:p>
        </p:txBody>
      </p:sp>
      <p:pic>
        <p:nvPicPr>
          <p:cNvPr id="4" name="Picture 3" descr="multi_ai_diagram_1.png"/>
          <p:cNvPicPr>
            <a:picLocks noChangeAspect="1"/>
          </p:cNvPicPr>
          <p:nvPr/>
        </p:nvPicPr>
        <p:blipFill>
          <a:blip r:embed="rId2"/>
          <a:stretch>
            <a:fillRect/>
          </a:stretch>
        </p:blipFill>
        <p:spPr>
          <a:xfrm>
            <a:off x="1645920" y="1371600"/>
            <a:ext cx="8897112" cy="439281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System Flowchart</a:t>
            </a:r>
          </a:p>
        </p:txBody>
      </p:sp>
      <p:pic>
        <p:nvPicPr>
          <p:cNvPr id="4" name="Picture 3" descr="multi_ai_diagram_3.png"/>
          <p:cNvPicPr>
            <a:picLocks noChangeAspect="1"/>
          </p:cNvPicPr>
          <p:nvPr/>
        </p:nvPicPr>
        <p:blipFill>
          <a:blip r:embed="rId2"/>
          <a:stretch>
            <a:fillRect/>
          </a:stretch>
        </p:blipFill>
        <p:spPr>
          <a:xfrm>
            <a:off x="1645920" y="1371600"/>
            <a:ext cx="8897112" cy="2795917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User Interface Panels</a:t>
            </a:r>
          </a:p>
        </p:txBody>
      </p:sp>
      <p:sp>
        <p:nvSpPr>
          <p:cNvPr id="4" name="Rounded Rectangle 3"/>
          <p:cNvSpPr/>
          <p:nvPr/>
        </p:nvSpPr>
        <p:spPr>
          <a:xfrm>
            <a:off x="685800" y="137160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in_page.png"/>
          <p:cNvPicPr>
            <a:picLocks noChangeAspect="1"/>
          </p:cNvPicPr>
          <p:nvPr/>
        </p:nvPicPr>
        <p:blipFill>
          <a:blip r:embed="rId2"/>
          <a:stretch>
            <a:fillRect/>
          </a:stretch>
        </p:blipFill>
        <p:spPr>
          <a:xfrm>
            <a:off x="777240" y="1463040"/>
            <a:ext cx="4937760" cy="2011680"/>
          </a:xfrm>
          <a:prstGeom prst="rect">
            <a:avLst/>
          </a:prstGeom>
        </p:spPr>
      </p:pic>
      <p:sp>
        <p:nvSpPr>
          <p:cNvPr id="6" name="TextBox 5"/>
          <p:cNvSpPr txBox="1"/>
          <p:nvPr/>
        </p:nvSpPr>
        <p:spPr>
          <a:xfrm>
            <a:off x="685800" y="3429000"/>
            <a:ext cx="5120640" cy="320040"/>
          </a:xfrm>
          <a:prstGeom prst="rect">
            <a:avLst/>
          </a:prstGeom>
          <a:noFill/>
        </p:spPr>
        <p:txBody>
          <a:bodyPr wrap="none">
            <a:spAutoFit/>
          </a:bodyPr>
          <a:lstStyle/>
          <a:p>
            <a:pPr algn="ctr">
              <a:defRPr sz="950">
                <a:solidFill>
                  <a:srgbClr val="64748B"/>
                </a:solidFill>
                <a:latin typeface="Arial"/>
              </a:defRPr>
            </a:pPr>
            <a:r>
              <a:t>Secure login Portal</a:t>
            </a:r>
          </a:p>
        </p:txBody>
      </p:sp>
      <p:sp>
        <p:nvSpPr>
          <p:cNvPr id="7" name="Rounded Rectangle 6"/>
          <p:cNvSpPr/>
          <p:nvPr/>
        </p:nvSpPr>
        <p:spPr>
          <a:xfrm>
            <a:off x="6382512" y="137160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orkspace_landing.png"/>
          <p:cNvPicPr>
            <a:picLocks noChangeAspect="1"/>
          </p:cNvPicPr>
          <p:nvPr/>
        </p:nvPicPr>
        <p:blipFill>
          <a:blip r:embed="rId3"/>
          <a:stretch>
            <a:fillRect/>
          </a:stretch>
        </p:blipFill>
        <p:spPr>
          <a:xfrm>
            <a:off x="6473952" y="1463040"/>
            <a:ext cx="4937760" cy="2011680"/>
          </a:xfrm>
          <a:prstGeom prst="rect">
            <a:avLst/>
          </a:prstGeom>
        </p:spPr>
      </p:pic>
      <p:sp>
        <p:nvSpPr>
          <p:cNvPr id="9" name="TextBox 8"/>
          <p:cNvSpPr txBox="1"/>
          <p:nvPr/>
        </p:nvSpPr>
        <p:spPr>
          <a:xfrm>
            <a:off x="6382512" y="3429000"/>
            <a:ext cx="5120640" cy="320040"/>
          </a:xfrm>
          <a:prstGeom prst="rect">
            <a:avLst/>
          </a:prstGeom>
          <a:noFill/>
        </p:spPr>
        <p:txBody>
          <a:bodyPr wrap="none">
            <a:spAutoFit/>
          </a:bodyPr>
          <a:lstStyle/>
          <a:p>
            <a:pPr algn="ctr">
              <a:defRPr sz="950">
                <a:solidFill>
                  <a:srgbClr val="64748B"/>
                </a:solidFill>
                <a:latin typeface="Arial"/>
              </a:defRPr>
            </a:pPr>
            <a:r>
              <a:t>Dashboard Landing View</a:t>
            </a:r>
          </a:p>
        </p:txBody>
      </p:sp>
      <p:sp>
        <p:nvSpPr>
          <p:cNvPr id="10" name="Rounded Rectangle 9"/>
          <p:cNvSpPr/>
          <p:nvPr/>
        </p:nvSpPr>
        <p:spPr>
          <a:xfrm>
            <a:off x="685800" y="393192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orkspace_output.png"/>
          <p:cNvPicPr>
            <a:picLocks noChangeAspect="1"/>
          </p:cNvPicPr>
          <p:nvPr/>
        </p:nvPicPr>
        <p:blipFill>
          <a:blip r:embed="rId4"/>
          <a:stretch>
            <a:fillRect/>
          </a:stretch>
        </p:blipFill>
        <p:spPr>
          <a:xfrm>
            <a:off x="777240" y="4023360"/>
            <a:ext cx="4937760" cy="2011680"/>
          </a:xfrm>
          <a:prstGeom prst="rect">
            <a:avLst/>
          </a:prstGeom>
        </p:spPr>
      </p:pic>
      <p:sp>
        <p:nvSpPr>
          <p:cNvPr id="12" name="TextBox 11"/>
          <p:cNvSpPr txBox="1"/>
          <p:nvPr/>
        </p:nvSpPr>
        <p:spPr>
          <a:xfrm>
            <a:off x="685800" y="5989320"/>
            <a:ext cx="5120640" cy="320040"/>
          </a:xfrm>
          <a:prstGeom prst="rect">
            <a:avLst/>
          </a:prstGeom>
          <a:noFill/>
        </p:spPr>
        <p:txBody>
          <a:bodyPr wrap="none">
            <a:spAutoFit/>
          </a:bodyPr>
          <a:lstStyle/>
          <a:p>
            <a:pPr algn="ctr">
              <a:defRPr sz="950">
                <a:solidFill>
                  <a:srgbClr val="64748B"/>
                </a:solidFill>
                <a:latin typeface="Arial"/>
              </a:defRPr>
            </a:pPr>
            <a:r>
              <a:t>Typewrite Broadcast Output</a:t>
            </a:r>
          </a:p>
        </p:txBody>
      </p:sp>
      <p:sp>
        <p:nvSpPr>
          <p:cNvPr id="13" name="Rounded Rectangle 12"/>
          <p:cNvSpPr/>
          <p:nvPr/>
        </p:nvSpPr>
        <p:spPr>
          <a:xfrm>
            <a:off x="6382512" y="3931920"/>
            <a:ext cx="51206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ettings_page.png"/>
          <p:cNvPicPr>
            <a:picLocks noChangeAspect="1"/>
          </p:cNvPicPr>
          <p:nvPr/>
        </p:nvPicPr>
        <p:blipFill>
          <a:blip r:embed="rId5"/>
          <a:stretch>
            <a:fillRect/>
          </a:stretch>
        </p:blipFill>
        <p:spPr>
          <a:xfrm>
            <a:off x="6473952" y="4023360"/>
            <a:ext cx="4937760" cy="2011680"/>
          </a:xfrm>
          <a:prstGeom prst="rect">
            <a:avLst/>
          </a:prstGeom>
        </p:spPr>
      </p:pic>
      <p:sp>
        <p:nvSpPr>
          <p:cNvPr id="15" name="TextBox 14"/>
          <p:cNvSpPr txBox="1"/>
          <p:nvPr/>
        </p:nvSpPr>
        <p:spPr>
          <a:xfrm>
            <a:off x="6382512" y="5989320"/>
            <a:ext cx="5120640" cy="320040"/>
          </a:xfrm>
          <a:prstGeom prst="rect">
            <a:avLst/>
          </a:prstGeom>
          <a:noFill/>
        </p:spPr>
        <p:txBody>
          <a:bodyPr wrap="none">
            <a:spAutoFit/>
          </a:bodyPr>
          <a:lstStyle/>
          <a:p>
            <a:pPr algn="ctr">
              <a:defRPr sz="950">
                <a:solidFill>
                  <a:srgbClr val="64748B"/>
                </a:solidFill>
                <a:latin typeface="Arial"/>
              </a:defRPr>
            </a:pPr>
            <a:r>
              <a:t>Settings &amp; Credentials Configuration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Core Features List</a:t>
            </a:r>
          </a:p>
        </p:txBody>
      </p:sp>
      <p:sp>
        <p:nvSpPr>
          <p:cNvPr id="4" name="Rounded Rectangle 3"/>
          <p:cNvSpPr/>
          <p:nvPr/>
        </p:nvSpPr>
        <p:spPr>
          <a:xfrm>
            <a:off x="685800"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Prompt Optimizer</a:t>
            </a:r>
          </a:p>
          <a:p>
            <a:pPr>
              <a:spcAft>
                <a:spcPts val="600"/>
              </a:spcAft>
              <a:defRPr sz="1100" b="0">
                <a:solidFill>
                  <a:srgbClr val="64748B"/>
                </a:solidFill>
                <a:latin typeface="Arial"/>
              </a:defRPr>
            </a:pPr>
            <a:r>
              <a:t>Refines short input queries into descriptive prompt paragraphs automatically.</a:t>
            </a:r>
          </a:p>
        </p:txBody>
      </p:sp>
      <p:sp>
        <p:nvSpPr>
          <p:cNvPr id="6" name="Rounded Rectangle 5"/>
          <p:cNvSpPr/>
          <p:nvPr/>
        </p:nvSpPr>
        <p:spPr>
          <a:xfrm>
            <a:off x="4453128"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1728"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Consensus Synthesis</a:t>
            </a:r>
          </a:p>
          <a:p>
            <a:pPr>
              <a:spcAft>
                <a:spcPts val="600"/>
              </a:spcAft>
              <a:defRPr sz="1100" b="0">
                <a:solidFill>
                  <a:srgbClr val="64748B"/>
                </a:solidFill>
                <a:latin typeface="Arial"/>
              </a:defRPr>
            </a:pPr>
            <a:r>
              <a:t>Combines responses from different providers into a single, cohesive consensus.</a:t>
            </a:r>
          </a:p>
        </p:txBody>
      </p:sp>
      <p:sp>
        <p:nvSpPr>
          <p:cNvPr id="8" name="Rounded Rectangle 7"/>
          <p:cNvSpPr/>
          <p:nvPr/>
        </p:nvSpPr>
        <p:spPr>
          <a:xfrm>
            <a:off x="8211312"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Best Response Judge</a:t>
            </a:r>
          </a:p>
          <a:p>
            <a:pPr>
              <a:spcAft>
                <a:spcPts val="600"/>
              </a:spcAft>
              <a:defRPr sz="1100" b="0">
                <a:solidFill>
                  <a:srgbClr val="64748B"/>
                </a:solidFill>
                <a:latin typeface="Arial"/>
              </a:defRPr>
            </a:pPr>
            <a:r>
              <a:t>Leverages an autonomous evaluate agent to score, select and highlight optimal candidate response.</a:t>
            </a:r>
          </a:p>
        </p:txBody>
      </p:sp>
      <p:sp>
        <p:nvSpPr>
          <p:cNvPr id="10" name="Rounded Rectangle 9"/>
          <p:cNvSpPr/>
          <p:nvPr/>
        </p:nvSpPr>
        <p:spPr>
          <a:xfrm>
            <a:off x="685800"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Speech to Text Recognition</a:t>
            </a:r>
          </a:p>
          <a:p>
            <a:pPr>
              <a:spcAft>
                <a:spcPts val="600"/>
              </a:spcAft>
              <a:defRPr sz="1100" b="0">
                <a:solidFill>
                  <a:srgbClr val="64748B"/>
                </a:solidFill>
                <a:latin typeface="Arial"/>
              </a:defRPr>
            </a:pPr>
            <a:r>
              <a:t>Integrates native webkitSpeechRecognition API triggers for voice search queries.</a:t>
            </a:r>
          </a:p>
        </p:txBody>
      </p:sp>
      <p:sp>
        <p:nvSpPr>
          <p:cNvPr id="12" name="Rounded Rectangle 11"/>
          <p:cNvSpPr/>
          <p:nvPr/>
        </p:nvSpPr>
        <p:spPr>
          <a:xfrm>
            <a:off x="4453128"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Mobile Scratchpad notepad</a:t>
            </a:r>
          </a:p>
          <a:p>
            <a:pPr>
              <a:spcAft>
                <a:spcPts val="600"/>
              </a:spcAft>
              <a:defRPr sz="1100" b="0">
                <a:solidFill>
                  <a:srgbClr val="64748B"/>
                </a:solidFill>
                <a:latin typeface="Arial"/>
              </a:defRPr>
            </a:pPr>
            <a:r>
              <a:t>Supports transient data saves with instant text downloading features.</a:t>
            </a:r>
          </a:p>
        </p:txBody>
      </p:sp>
      <p:sp>
        <p:nvSpPr>
          <p:cNvPr id="14" name="Rounded Rectangle 13"/>
          <p:cNvSpPr/>
          <p:nvPr/>
        </p:nvSpPr>
        <p:spPr>
          <a:xfrm>
            <a:off x="8211312"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AI Debate Arena Simulator</a:t>
            </a:r>
          </a:p>
          <a:p>
            <a:pPr>
              <a:spcAft>
                <a:spcPts val="600"/>
              </a:spcAft>
              <a:defRPr sz="1100" b="0">
                <a:solidFill>
                  <a:srgbClr val="64748B"/>
                </a:solidFill>
                <a:latin typeface="Arial"/>
              </a:defRPr>
            </a:pPr>
            <a:r>
              <a:t>Simulates alternating turn-based debates between models on customized topics.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Integrated Models Portfolio</a:t>
            </a:r>
          </a:p>
        </p:txBody>
      </p:sp>
      <p:graphicFrame>
        <p:nvGraphicFramePr>
          <p:cNvPr id="4" name="Table 3"/>
          <p:cNvGraphicFramePr>
            <a:graphicFrameLocks noGrp="1"/>
          </p:cNvGraphicFramePr>
          <p:nvPr/>
        </p:nvGraphicFramePr>
        <p:xfrm>
          <a:off x="914400" y="1645920"/>
          <a:ext cx="10360152" cy="3840480"/>
        </p:xfrm>
        <a:graphic>
          <a:graphicData uri="http://schemas.openxmlformats.org/drawingml/2006/table">
            <a:tbl>
              <a:tblPr firstRow="1" bandRow="1">
                <a:tableStyleId>{5C22544A-7EE6-4342-B048-85BDC9FD1C3A}</a:tableStyleId>
              </a:tblPr>
              <a:tblGrid>
                <a:gridCol w="2590038"/>
                <a:gridCol w="2590038"/>
                <a:gridCol w="2590038"/>
                <a:gridCol w="2590038"/>
              </a:tblGrid>
              <a:tr h="640080">
                <a:tc>
                  <a:txBody>
                    <a:bodyPr/>
                    <a:lstStyle/>
                    <a:p>
                      <a:r>
                        <a:rPr b="1" sz="1200">
                          <a:solidFill>
                            <a:srgbClr val="FFFFFF"/>
                          </a:solidFill>
                        </a:rPr>
                        <a:t>Model Target</a:t>
                      </a:r>
                    </a:p>
                  </a:txBody>
                  <a:tcPr>
                    <a:solidFill>
                      <a:srgbClr val="4F46E5"/>
                    </a:solidFill>
                  </a:tcPr>
                </a:tc>
                <a:tc>
                  <a:txBody>
                    <a:bodyPr/>
                    <a:lstStyle/>
                    <a:p>
                      <a:r>
                        <a:rPr b="1" sz="1200">
                          <a:solidFill>
                            <a:srgbClr val="FFFFFF"/>
                          </a:solidFill>
                        </a:rPr>
                        <a:t>Provider</a:t>
                      </a:r>
                    </a:p>
                  </a:txBody>
                  <a:tcPr>
                    <a:solidFill>
                      <a:srgbClr val="4F46E5"/>
                    </a:solidFill>
                  </a:tcPr>
                </a:tc>
                <a:tc>
                  <a:txBody>
                    <a:bodyPr/>
                    <a:lstStyle/>
                    <a:p>
                      <a:r>
                        <a:rPr b="1" sz="1200">
                          <a:solidFill>
                            <a:srgbClr val="FFFFFF"/>
                          </a:solidFill>
                        </a:rPr>
                        <a:t>Purpose</a:t>
                      </a:r>
                    </a:p>
                  </a:txBody>
                  <a:tcPr>
                    <a:solidFill>
                      <a:srgbClr val="4F46E5"/>
                    </a:solidFill>
                  </a:tcPr>
                </a:tc>
                <a:tc>
                  <a:txBody>
                    <a:bodyPr/>
                    <a:lstStyle/>
                    <a:p>
                      <a:r>
                        <a:rPr b="1" sz="1200">
                          <a:solidFill>
                            <a:srgbClr val="FFFFFF"/>
                          </a:solidFill>
                        </a:rPr>
                        <a:t>Strength</a:t>
                      </a:r>
                    </a:p>
                  </a:txBody>
                  <a:tcPr>
                    <a:solidFill>
                      <a:srgbClr val="4F46E5"/>
                    </a:solidFill>
                  </a:tcPr>
                </a:tc>
              </a:tr>
              <a:tr h="640080">
                <a:tc>
                  <a:txBody>
                    <a:bodyPr/>
                    <a:lstStyle/>
                    <a:p>
                      <a:r>
                        <a:rPr sz="1100">
                          <a:solidFill>
                            <a:srgbClr val="1E293B"/>
                          </a:solidFill>
                        </a:rPr>
                        <a:t>Gemini Flash</a:t>
                      </a:r>
                    </a:p>
                  </a:txBody>
                  <a:tcPr>
                    <a:solidFill>
                      <a:srgbClr val="FFFFFF"/>
                    </a:solidFill>
                  </a:tcPr>
                </a:tc>
                <a:tc>
                  <a:txBody>
                    <a:bodyPr/>
                    <a:lstStyle/>
                    <a:p>
                      <a:r>
                        <a:rPr sz="1100">
                          <a:solidFill>
                            <a:srgbClr val="1E293B"/>
                          </a:solidFill>
                        </a:rPr>
                        <a:t>Google GenAI</a:t>
                      </a:r>
                    </a:p>
                  </a:txBody>
                  <a:tcPr>
                    <a:solidFill>
                      <a:srgbClr val="FFFFFF"/>
                    </a:solidFill>
                  </a:tcPr>
                </a:tc>
                <a:tc>
                  <a:txBody>
                    <a:bodyPr/>
                    <a:lstStyle/>
                    <a:p>
                      <a:r>
                        <a:rPr sz="1100">
                          <a:solidFill>
                            <a:srgbClr val="1E293B"/>
                          </a:solidFill>
                        </a:rPr>
                        <a:t>Fast, structured responses</a:t>
                      </a:r>
                    </a:p>
                  </a:txBody>
                  <a:tcPr>
                    <a:solidFill>
                      <a:srgbClr val="FFFFFF"/>
                    </a:solidFill>
                  </a:tcPr>
                </a:tc>
                <a:tc>
                  <a:txBody>
                    <a:bodyPr/>
                    <a:lstStyle/>
                    <a:p>
                      <a:r>
                        <a:rPr sz="1100">
                          <a:solidFill>
                            <a:srgbClr val="1E293B"/>
                          </a:solidFill>
                        </a:rPr>
                        <a:t>Low Latency &amp; Parallel Streams</a:t>
                      </a:r>
                    </a:p>
                  </a:txBody>
                  <a:tcPr>
                    <a:solidFill>
                      <a:srgbClr val="FFFFFF"/>
                    </a:solidFill>
                  </a:tcPr>
                </a:tc>
              </a:tr>
              <a:tr h="640080">
                <a:tc>
                  <a:txBody>
                    <a:bodyPr/>
                    <a:lstStyle/>
                    <a:p>
                      <a:r>
                        <a:rPr sz="1100">
                          <a:solidFill>
                            <a:srgbClr val="1E293B"/>
                          </a:solidFill>
                        </a:rPr>
                        <a:t>Liquid LFM</a:t>
                      </a:r>
                    </a:p>
                  </a:txBody>
                  <a:tcPr>
                    <a:solidFill>
                      <a:srgbClr val="F8FAFC"/>
                    </a:solidFill>
                  </a:tcPr>
                </a:tc>
                <a:tc>
                  <a:txBody>
                    <a:bodyPr/>
                    <a:lstStyle/>
                    <a:p>
                      <a:r>
                        <a:rPr sz="1100">
                          <a:solidFill>
                            <a:srgbClr val="1E293B"/>
                          </a:solidFill>
                        </a:rPr>
                        <a:t>OpenRouter Gateway</a:t>
                      </a:r>
                    </a:p>
                  </a:txBody>
                  <a:tcPr>
                    <a:solidFill>
                      <a:srgbClr val="F8FAFC"/>
                    </a:solidFill>
                  </a:tcPr>
                </a:tc>
                <a:tc>
                  <a:txBody>
                    <a:bodyPr/>
                    <a:lstStyle/>
                    <a:p>
                      <a:r>
                        <a:rPr sz="1100">
                          <a:solidFill>
                            <a:srgbClr val="1E293B"/>
                          </a:solidFill>
                        </a:rPr>
                        <a:t>Reasoning &amp; Coding tasks</a:t>
                      </a:r>
                    </a:p>
                  </a:txBody>
                  <a:tcPr>
                    <a:solidFill>
                      <a:srgbClr val="F8FAFC"/>
                    </a:solidFill>
                  </a:tcPr>
                </a:tc>
                <a:tc>
                  <a:txBody>
                    <a:bodyPr/>
                    <a:lstStyle/>
                    <a:p>
                      <a:r>
                        <a:rPr sz="1100">
                          <a:solidFill>
                            <a:srgbClr val="1E293B"/>
                          </a:solidFill>
                        </a:rPr>
                        <a:t>High Logical consistency</a:t>
                      </a:r>
                    </a:p>
                  </a:txBody>
                  <a:tcPr>
                    <a:solidFill>
                      <a:srgbClr val="F8FAFC"/>
                    </a:solidFill>
                  </a:tcPr>
                </a:tc>
              </a:tr>
              <a:tr h="640080">
                <a:tc>
                  <a:txBody>
                    <a:bodyPr/>
                    <a:lstStyle/>
                    <a:p>
                      <a:r>
                        <a:rPr sz="1100">
                          <a:solidFill>
                            <a:srgbClr val="1E293B"/>
                          </a:solidFill>
                        </a:rPr>
                        <a:t>Groq Llama</a:t>
                      </a:r>
                    </a:p>
                  </a:txBody>
                  <a:tcPr>
                    <a:solidFill>
                      <a:srgbClr val="FFFFFF"/>
                    </a:solidFill>
                  </a:tcPr>
                </a:tc>
                <a:tc>
                  <a:txBody>
                    <a:bodyPr/>
                    <a:lstStyle/>
                    <a:p>
                      <a:r>
                        <a:rPr sz="1100">
                          <a:solidFill>
                            <a:srgbClr val="1E293B"/>
                          </a:solidFill>
                        </a:rPr>
                        <a:t>Groq Cloud API</a:t>
                      </a:r>
                    </a:p>
                  </a:txBody>
                  <a:tcPr>
                    <a:solidFill>
                      <a:srgbClr val="FFFFFF"/>
                    </a:solidFill>
                  </a:tcPr>
                </a:tc>
                <a:tc>
                  <a:txBody>
                    <a:bodyPr/>
                    <a:lstStyle/>
                    <a:p>
                      <a:r>
                        <a:rPr sz="1100">
                          <a:solidFill>
                            <a:srgbClr val="1E293B"/>
                          </a:solidFill>
                        </a:rPr>
                        <a:t>Llama 3 context processing</a:t>
                      </a:r>
                    </a:p>
                  </a:txBody>
                  <a:tcPr>
                    <a:solidFill>
                      <a:srgbClr val="FFFFFF"/>
                    </a:solidFill>
                  </a:tcPr>
                </a:tc>
                <a:tc>
                  <a:txBody>
                    <a:bodyPr/>
                    <a:lstStyle/>
                    <a:p>
                      <a:r>
                        <a:rPr sz="1100">
                          <a:solidFill>
                            <a:srgbClr val="1E293B"/>
                          </a:solidFill>
                        </a:rPr>
                        <a:t>Highest query throughput speed</a:t>
                      </a:r>
                    </a:p>
                  </a:txBody>
                  <a:tcPr>
                    <a:solidFill>
                      <a:srgbClr val="FFFFFF"/>
                    </a:solidFill>
                  </a:tcPr>
                </a:tc>
              </a:tr>
              <a:tr h="640080">
                <a:tc>
                  <a:txBody>
                    <a:bodyPr/>
                    <a:lstStyle/>
                    <a:p>
                      <a:r>
                        <a:rPr sz="1100">
                          <a:solidFill>
                            <a:srgbClr val="1E293B"/>
                          </a:solidFill>
                        </a:rPr>
                        <a:t>Qwen HF</a:t>
                      </a:r>
                    </a:p>
                  </a:txBody>
                  <a:tcPr>
                    <a:solidFill>
                      <a:srgbClr val="F8FAFC"/>
                    </a:solidFill>
                  </a:tcPr>
                </a:tc>
                <a:tc>
                  <a:txBody>
                    <a:bodyPr/>
                    <a:lstStyle/>
                    <a:p>
                      <a:r>
                        <a:rPr sz="1100">
                          <a:solidFill>
                            <a:srgbClr val="1E293B"/>
                          </a:solidFill>
                        </a:rPr>
                        <a:t>HuggingFace</a:t>
                      </a:r>
                    </a:p>
                  </a:txBody>
                  <a:tcPr>
                    <a:solidFill>
                      <a:srgbClr val="F8FAFC"/>
                    </a:solidFill>
                  </a:tcPr>
                </a:tc>
                <a:tc>
                  <a:txBody>
                    <a:bodyPr/>
                    <a:lstStyle/>
                    <a:p>
                      <a:r>
                        <a:rPr sz="1100">
                          <a:solidFill>
                            <a:srgbClr val="1E293B"/>
                          </a:solidFill>
                        </a:rPr>
                        <a:t>Multilingual text completion</a:t>
                      </a:r>
                    </a:p>
                  </a:txBody>
                  <a:tcPr>
                    <a:solidFill>
                      <a:srgbClr val="F8FAFC"/>
                    </a:solidFill>
                  </a:tcPr>
                </a:tc>
                <a:tc>
                  <a:txBody>
                    <a:bodyPr/>
                    <a:lstStyle/>
                    <a:p>
                      <a:r>
                        <a:rPr sz="1100">
                          <a:solidFill>
                            <a:srgbClr val="1E293B"/>
                          </a:solidFill>
                        </a:rPr>
                        <a:t>High Accuracy in translation</a:t>
                      </a:r>
                    </a:p>
                  </a:txBody>
                  <a:tcPr>
                    <a:solidFill>
                      <a:srgbClr val="F8FAFC"/>
                    </a:solidFill>
                  </a:tcPr>
                </a:tc>
              </a:tr>
              <a:tr h="640080">
                <a:tc>
                  <a:txBody>
                    <a:bodyPr/>
                    <a:lstStyle/>
                    <a:p>
                      <a:r>
                        <a:rPr sz="1100">
                          <a:solidFill>
                            <a:srgbClr val="1E293B"/>
                          </a:solidFill>
                        </a:rPr>
                        <a:t>Cohere</a:t>
                      </a:r>
                    </a:p>
                  </a:txBody>
                  <a:tcPr>
                    <a:solidFill>
                      <a:srgbClr val="FFFFFF"/>
                    </a:solidFill>
                  </a:tcPr>
                </a:tc>
                <a:tc>
                  <a:txBody>
                    <a:bodyPr/>
                    <a:lstStyle/>
                    <a:p>
                      <a:r>
                        <a:rPr sz="1100">
                          <a:solidFill>
                            <a:srgbClr val="1E293B"/>
                          </a:solidFill>
                        </a:rPr>
                        <a:t>Cohere REST SDK</a:t>
                      </a:r>
                    </a:p>
                  </a:txBody>
                  <a:tcPr>
                    <a:solidFill>
                      <a:srgbClr val="FFFFFF"/>
                    </a:solidFill>
                  </a:tcPr>
                </a:tc>
                <a:tc>
                  <a:txBody>
                    <a:bodyPr/>
                    <a:lstStyle/>
                    <a:p>
                      <a:r>
                        <a:rPr sz="1100">
                          <a:solidFill>
                            <a:srgbClr val="1E293B"/>
                          </a:solidFill>
                        </a:rPr>
                        <a:t>Prose and content creation</a:t>
                      </a:r>
                    </a:p>
                  </a:txBody>
                  <a:tcPr>
                    <a:solidFill>
                      <a:srgbClr val="FFFFFF"/>
                    </a:solidFill>
                  </a:tcPr>
                </a:tc>
                <a:tc>
                  <a:txBody>
                    <a:bodyPr/>
                    <a:lstStyle/>
                    <a:p>
                      <a:r>
                        <a:rPr sz="1100">
                          <a:solidFill>
                            <a:srgbClr val="1E293B"/>
                          </a:solidFill>
                        </a:rPr>
                        <a:t>Creative tone flexibility</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System Module Architecture</a:t>
            </a:r>
          </a:p>
        </p:txBody>
      </p:sp>
      <p:sp>
        <p:nvSpPr>
          <p:cNvPr id="4" name="Rounded Rectangle 3"/>
          <p:cNvSpPr/>
          <p:nvPr/>
        </p:nvSpPr>
        <p:spPr>
          <a:xfrm>
            <a:off x="685800"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User Authentication</a:t>
            </a:r>
          </a:p>
          <a:p>
            <a:pPr>
              <a:spcAft>
                <a:spcPts val="600"/>
              </a:spcAft>
              <a:defRPr sz="1100" b="0">
                <a:solidFill>
                  <a:srgbClr val="64748B"/>
                </a:solidFill>
                <a:latin typeface="Arial"/>
              </a:defRPr>
            </a:pPr>
            <a:r>
              <a:t>Manages signup, database registers, JWT session generation, password hashing.</a:t>
            </a:r>
          </a:p>
        </p:txBody>
      </p:sp>
      <p:sp>
        <p:nvSpPr>
          <p:cNvPr id="6" name="Rounded Rectangle 5"/>
          <p:cNvSpPr/>
          <p:nvPr/>
        </p:nvSpPr>
        <p:spPr>
          <a:xfrm>
            <a:off x="4453128"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1728"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Workspace Manager</a:t>
            </a:r>
          </a:p>
          <a:p>
            <a:pPr>
              <a:spcAft>
                <a:spcPts val="600"/>
              </a:spcAft>
              <a:defRPr sz="1100" b="0">
                <a:solidFill>
                  <a:srgbClr val="64748B"/>
                </a:solidFill>
                <a:latin typeface="Arial"/>
              </a:defRPr>
            </a:pPr>
            <a:r>
              <a:t>Handles active targets state, UI dynamic scaling and typewriter streams.</a:t>
            </a:r>
          </a:p>
        </p:txBody>
      </p:sp>
      <p:sp>
        <p:nvSpPr>
          <p:cNvPr id="8" name="Rounded Rectangle 7"/>
          <p:cNvSpPr/>
          <p:nvPr/>
        </p:nvSpPr>
        <p:spPr>
          <a:xfrm>
            <a:off x="8211312"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AI APIs Gateway</a:t>
            </a:r>
          </a:p>
          <a:p>
            <a:pPr>
              <a:spcAft>
                <a:spcPts val="600"/>
              </a:spcAft>
              <a:defRPr sz="1100" b="0">
                <a:solidFill>
                  <a:srgbClr val="64748B"/>
                </a:solidFill>
                <a:latin typeface="Arial"/>
              </a:defRPr>
            </a:pPr>
            <a:r>
              <a:t>Routes Axios fetches concurrently using async event handlers.</a:t>
            </a:r>
          </a:p>
        </p:txBody>
      </p:sp>
      <p:sp>
        <p:nvSpPr>
          <p:cNvPr id="10" name="Rounded Rectangle 9"/>
          <p:cNvSpPr/>
          <p:nvPr/>
        </p:nvSpPr>
        <p:spPr>
          <a:xfrm>
            <a:off x="685800"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resilient Sync</a:t>
            </a:r>
          </a:p>
          <a:p>
            <a:pPr>
              <a:spcAft>
                <a:spcPts val="600"/>
              </a:spcAft>
              <a:defRPr sz="1100" b="0">
                <a:solidFill>
                  <a:srgbClr val="64748B"/>
                </a:solidFill>
                <a:latin typeface="Arial"/>
              </a:defRPr>
            </a:pPr>
            <a:r>
              <a:t>Differential Upserts sync chat records without data loss.</a:t>
            </a:r>
          </a:p>
        </p:txBody>
      </p:sp>
      <p:sp>
        <p:nvSpPr>
          <p:cNvPr id="12" name="Rounded Rectangle 11"/>
          <p:cNvSpPr/>
          <p:nvPr/>
        </p:nvSpPr>
        <p:spPr>
          <a:xfrm>
            <a:off x="4453128"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Speech voice Capture</a:t>
            </a:r>
          </a:p>
          <a:p>
            <a:pPr>
              <a:spcAft>
                <a:spcPts val="600"/>
              </a:spcAft>
              <a:defRPr sz="1100" b="0">
                <a:solidFill>
                  <a:srgbClr val="64748B"/>
                </a:solidFill>
                <a:latin typeface="Arial"/>
              </a:defRPr>
            </a:pPr>
            <a:r>
              <a:t>Connects Web Speech webkitSpeechRecognition API listeners directly to search elements.</a:t>
            </a:r>
          </a:p>
        </p:txBody>
      </p:sp>
      <p:sp>
        <p:nvSpPr>
          <p:cNvPr id="14" name="Rounded Rectangle 13"/>
          <p:cNvSpPr/>
          <p:nvPr/>
        </p:nvSpPr>
        <p:spPr>
          <a:xfrm>
            <a:off x="8211312"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Telemetry Logging</a:t>
            </a:r>
          </a:p>
          <a:p>
            <a:pPr>
              <a:spcAft>
                <a:spcPts val="600"/>
              </a:spcAft>
              <a:defRPr sz="1100" b="0">
                <a:solidFill>
                  <a:srgbClr val="64748B"/>
                </a:solidFill>
                <a:latin typeface="Arial"/>
              </a:defRPr>
            </a:pPr>
            <a:r>
              <a:t>Aggregates latency counters inside ApiUsage MongoDB collections.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Implementation Roadmap Timeline</a:t>
            </a:r>
          </a:p>
        </p:txBody>
      </p:sp>
      <p:sp>
        <p:nvSpPr>
          <p:cNvPr id="4" name="Rounded Rectangle 3"/>
          <p:cNvSpPr/>
          <p:nvPr/>
        </p:nvSpPr>
        <p:spPr>
          <a:xfrm>
            <a:off x="914400" y="2286000"/>
            <a:ext cx="2286000"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377440"/>
            <a:ext cx="2103120" cy="1828800"/>
          </a:xfrm>
          <a:prstGeom prst="rect">
            <a:avLst/>
          </a:prstGeom>
          <a:noFill/>
        </p:spPr>
        <p:txBody>
          <a:bodyPr wrap="square">
            <a:spAutoFit/>
          </a:bodyPr>
          <a:lstStyle/>
          <a:p>
            <a:pPr>
              <a:spcAft>
                <a:spcPts val="600"/>
              </a:spcAft>
              <a:defRPr sz="1300" b="1">
                <a:solidFill>
                  <a:srgbClr val="2563EB"/>
                </a:solidFill>
                <a:latin typeface="Arial"/>
              </a:defRPr>
            </a:pPr>
            <a:r>
              <a:t>Phase 1: Environment Setup</a:t>
            </a:r>
          </a:p>
          <a:p>
            <a:pPr>
              <a:spcAft>
                <a:spcPts val="600"/>
              </a:spcAft>
              <a:defRPr sz="1000" b="0">
                <a:solidFill>
                  <a:srgbClr val="64748B"/>
                </a:solidFill>
                <a:latin typeface="Arial"/>
              </a:defRPr>
            </a:pPr>
            <a:r>
              <a:t>Setup backend repositories, Node routing frameworks, and establish initial MongoDB connections.</a:t>
            </a:r>
          </a:p>
        </p:txBody>
      </p:sp>
      <p:sp>
        <p:nvSpPr>
          <p:cNvPr id="6" name="Right Arrow 5"/>
          <p:cNvSpPr/>
          <p:nvPr/>
        </p:nvSpPr>
        <p:spPr>
          <a:xfrm>
            <a:off x="3291840" y="3154680"/>
            <a:ext cx="548640" cy="27432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74720" y="2286000"/>
            <a:ext cx="2286000"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2377440"/>
            <a:ext cx="2103120" cy="1828800"/>
          </a:xfrm>
          <a:prstGeom prst="rect">
            <a:avLst/>
          </a:prstGeom>
          <a:noFill/>
        </p:spPr>
        <p:txBody>
          <a:bodyPr wrap="square">
            <a:spAutoFit/>
          </a:bodyPr>
          <a:lstStyle/>
          <a:p>
            <a:pPr>
              <a:spcAft>
                <a:spcPts val="600"/>
              </a:spcAft>
              <a:defRPr sz="1300" b="1">
                <a:solidFill>
                  <a:srgbClr val="2563EB"/>
                </a:solidFill>
                <a:latin typeface="Arial"/>
              </a:defRPr>
            </a:pPr>
            <a:r>
              <a:t>Phase 2: Frontend &amp; UI design</a:t>
            </a:r>
          </a:p>
          <a:p>
            <a:pPr>
              <a:spcAft>
                <a:spcPts val="600"/>
              </a:spcAft>
              <a:defRPr sz="1000" b="0">
                <a:solidFill>
                  <a:srgbClr val="64748B"/>
                </a:solidFill>
                <a:latin typeface="Arial"/>
              </a:defRPr>
            </a:pPr>
            <a:r>
              <a:t>Create glassmorphic workspace panels, prompt bars, and responsive theme toggles.</a:t>
            </a:r>
          </a:p>
        </p:txBody>
      </p:sp>
      <p:sp>
        <p:nvSpPr>
          <p:cNvPr id="9" name="Right Arrow 8"/>
          <p:cNvSpPr/>
          <p:nvPr/>
        </p:nvSpPr>
        <p:spPr>
          <a:xfrm>
            <a:off x="5852160" y="3154680"/>
            <a:ext cx="548640" cy="27432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35040" y="2286000"/>
            <a:ext cx="2286000"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2377440"/>
            <a:ext cx="2103120" cy="1828800"/>
          </a:xfrm>
          <a:prstGeom prst="rect">
            <a:avLst/>
          </a:prstGeom>
          <a:noFill/>
        </p:spPr>
        <p:txBody>
          <a:bodyPr wrap="square">
            <a:spAutoFit/>
          </a:bodyPr>
          <a:lstStyle/>
          <a:p>
            <a:pPr>
              <a:spcAft>
                <a:spcPts val="600"/>
              </a:spcAft>
              <a:defRPr sz="1300" b="1">
                <a:solidFill>
                  <a:srgbClr val="2563EB"/>
                </a:solidFill>
                <a:latin typeface="Arial"/>
              </a:defRPr>
            </a:pPr>
            <a:r>
              <a:t>Phase 3: Parallel API gateways</a:t>
            </a:r>
          </a:p>
          <a:p>
            <a:pPr>
              <a:spcAft>
                <a:spcPts val="600"/>
              </a:spcAft>
              <a:defRPr sz="1000" b="0">
                <a:solidFill>
                  <a:srgbClr val="64748B"/>
                </a:solidFill>
                <a:latin typeface="Arial"/>
              </a:defRPr>
            </a:pPr>
            <a:r>
              <a:t>Develop Axios fetches concurrently using Promise.allSettled arrays routing.</a:t>
            </a:r>
          </a:p>
        </p:txBody>
      </p:sp>
      <p:sp>
        <p:nvSpPr>
          <p:cNvPr id="12" name="Right Arrow 11"/>
          <p:cNvSpPr/>
          <p:nvPr/>
        </p:nvSpPr>
        <p:spPr>
          <a:xfrm>
            <a:off x="8412480" y="3154680"/>
            <a:ext cx="548640" cy="274320"/>
          </a:xfrm>
          <a:prstGeom prst="rightArrow">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95360" y="2286000"/>
            <a:ext cx="2286000" cy="20116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2377440"/>
            <a:ext cx="2103120" cy="1828800"/>
          </a:xfrm>
          <a:prstGeom prst="rect">
            <a:avLst/>
          </a:prstGeom>
          <a:noFill/>
        </p:spPr>
        <p:txBody>
          <a:bodyPr wrap="square">
            <a:spAutoFit/>
          </a:bodyPr>
          <a:lstStyle/>
          <a:p>
            <a:pPr>
              <a:spcAft>
                <a:spcPts val="600"/>
              </a:spcAft>
              <a:defRPr sz="1300" b="1">
                <a:solidFill>
                  <a:srgbClr val="2563EB"/>
                </a:solidFill>
                <a:latin typeface="Arial"/>
              </a:defRPr>
            </a:pPr>
            <a:r>
              <a:t>Phase 4: Validation &amp; Deploy</a:t>
            </a:r>
          </a:p>
          <a:p>
            <a:pPr>
              <a:spcAft>
                <a:spcPts val="600"/>
              </a:spcAft>
              <a:defRPr sz="1000" b="0">
                <a:solidFill>
                  <a:srgbClr val="64748B"/>
                </a:solidFill>
                <a:latin typeface="Arial"/>
              </a:defRPr>
            </a:pPr>
            <a:r>
              <a:t>Manual integration checks, telemetry testing, and production deployment on Render.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Validation &amp; Testing Results</a:t>
            </a:r>
          </a:p>
        </p:txBody>
      </p:sp>
      <p:graphicFrame>
        <p:nvGraphicFramePr>
          <p:cNvPr id="4" name="Table 3"/>
          <p:cNvGraphicFramePr>
            <a:graphicFrameLocks noGrp="1"/>
          </p:cNvGraphicFramePr>
          <p:nvPr/>
        </p:nvGraphicFramePr>
        <p:xfrm>
          <a:off x="914400" y="1645920"/>
          <a:ext cx="10360152" cy="3840480"/>
        </p:xfrm>
        <a:graphic>
          <a:graphicData uri="http://schemas.openxmlformats.org/drawingml/2006/table">
            <a:tbl>
              <a:tblPr firstRow="1" bandRow="1">
                <a:tableStyleId>{5C22544A-7EE6-4342-B048-85BDC9FD1C3A}</a:tableStyleId>
              </a:tblPr>
              <a:tblGrid>
                <a:gridCol w="2590038"/>
                <a:gridCol w="2590038"/>
                <a:gridCol w="2590038"/>
                <a:gridCol w="2590038"/>
              </a:tblGrid>
              <a:tr h="768096">
                <a:tc>
                  <a:txBody>
                    <a:bodyPr/>
                    <a:lstStyle/>
                    <a:p>
                      <a:r>
                        <a:rPr b="1" sz="1200">
                          <a:solidFill>
                            <a:srgbClr val="FFFFFF"/>
                          </a:solidFill>
                        </a:rPr>
                        <a:t>Test ID</a:t>
                      </a:r>
                    </a:p>
                  </a:txBody>
                  <a:tcPr>
                    <a:solidFill>
                      <a:srgbClr val="4F46E5"/>
                    </a:solidFill>
                  </a:tcPr>
                </a:tc>
                <a:tc>
                  <a:txBody>
                    <a:bodyPr/>
                    <a:lstStyle/>
                    <a:p>
                      <a:r>
                        <a:rPr b="1" sz="1200">
                          <a:solidFill>
                            <a:srgbClr val="FFFFFF"/>
                          </a:solidFill>
                        </a:rPr>
                        <a:t>Test Scenario</a:t>
                      </a:r>
                    </a:p>
                  </a:txBody>
                  <a:tcPr>
                    <a:solidFill>
                      <a:srgbClr val="4F46E5"/>
                    </a:solidFill>
                  </a:tcPr>
                </a:tc>
                <a:tc>
                  <a:txBody>
                    <a:bodyPr/>
                    <a:lstStyle/>
                    <a:p>
                      <a:r>
                        <a:rPr b="1" sz="1200">
                          <a:solidFill>
                            <a:srgbClr val="FFFFFF"/>
                          </a:solidFill>
                        </a:rPr>
                        <a:t>Expected Outputs</a:t>
                      </a:r>
                    </a:p>
                  </a:txBody>
                  <a:tcPr>
                    <a:solidFill>
                      <a:srgbClr val="4F46E5"/>
                    </a:solidFill>
                  </a:tcPr>
                </a:tc>
                <a:tc>
                  <a:txBody>
                    <a:bodyPr/>
                    <a:lstStyle/>
                    <a:p>
                      <a:r>
                        <a:rPr b="1" sz="1200">
                          <a:solidFill>
                            <a:srgbClr val="FFFFFF"/>
                          </a:solidFill>
                        </a:rPr>
                        <a:t>Status</a:t>
                      </a:r>
                    </a:p>
                  </a:txBody>
                  <a:tcPr>
                    <a:solidFill>
                      <a:srgbClr val="4F46E5"/>
                    </a:solidFill>
                  </a:tcPr>
                </a:tc>
              </a:tr>
              <a:tr h="768096">
                <a:tc>
                  <a:txBody>
                    <a:bodyPr/>
                    <a:lstStyle/>
                    <a:p>
                      <a:r>
                        <a:rPr sz="1100">
                          <a:solidFill>
                            <a:srgbClr val="1E293B"/>
                          </a:solidFill>
                        </a:rPr>
                        <a:t>TC-1</a:t>
                      </a:r>
                    </a:p>
                  </a:txBody>
                  <a:tcPr>
                    <a:solidFill>
                      <a:srgbClr val="FFFFFF"/>
                    </a:solidFill>
                  </a:tcPr>
                </a:tc>
                <a:tc>
                  <a:txBody>
                    <a:bodyPr/>
                    <a:lstStyle/>
                    <a:p>
                      <a:r>
                        <a:rPr sz="1100">
                          <a:solidFill>
                            <a:srgbClr val="1E293B"/>
                          </a:solidFill>
                        </a:rPr>
                        <a:t>Concurrent broadcast prompts execution</a:t>
                      </a:r>
                    </a:p>
                  </a:txBody>
                  <a:tcPr>
                    <a:solidFill>
                      <a:srgbClr val="FFFFFF"/>
                    </a:solidFill>
                  </a:tcPr>
                </a:tc>
                <a:tc>
                  <a:txBody>
                    <a:bodyPr/>
                    <a:lstStyle/>
                    <a:p>
                      <a:r>
                        <a:rPr sz="1100">
                          <a:solidFill>
                            <a:srgbClr val="1E293B"/>
                          </a:solidFill>
                        </a:rPr>
                        <a:t>Responses typewrite side-by-side alongside latency telemetry</a:t>
                      </a:r>
                    </a:p>
                  </a:txBody>
                  <a:tcPr>
                    <a:solidFill>
                      <a:srgbClr val="FFFFFF"/>
                    </a:solidFill>
                  </a:tcPr>
                </a:tc>
                <a:tc>
                  <a:txBody>
                    <a:bodyPr/>
                    <a:lstStyle/>
                    <a:p>
                      <a:r>
                        <a:rPr sz="1100" b="1">
                          <a:solidFill>
                            <a:srgbClr val="10B981"/>
                          </a:solidFill>
                        </a:rPr>
                        <a:t>PASS</a:t>
                      </a:r>
                    </a:p>
                  </a:txBody>
                  <a:tcPr>
                    <a:solidFill>
                      <a:srgbClr val="FFFFFF"/>
                    </a:solidFill>
                  </a:tcPr>
                </a:tc>
              </a:tr>
              <a:tr h="768096">
                <a:tc>
                  <a:txBody>
                    <a:bodyPr/>
                    <a:lstStyle/>
                    <a:p>
                      <a:r>
                        <a:rPr sz="1100">
                          <a:solidFill>
                            <a:srgbClr val="1E293B"/>
                          </a:solidFill>
                        </a:rPr>
                        <a:t>TC-2</a:t>
                      </a:r>
                    </a:p>
                  </a:txBody>
                  <a:tcPr>
                    <a:solidFill>
                      <a:srgbClr val="F8FAFC"/>
                    </a:solidFill>
                  </a:tcPr>
                </a:tc>
                <a:tc>
                  <a:txBody>
                    <a:bodyPr/>
                    <a:lstStyle/>
                    <a:p>
                      <a:r>
                        <a:rPr sz="1100">
                          <a:solidFill>
                            <a:srgbClr val="1E293B"/>
                          </a:solidFill>
                        </a:rPr>
                        <a:t>Consensus synthesis query failover</a:t>
                      </a:r>
                    </a:p>
                  </a:txBody>
                  <a:tcPr>
                    <a:solidFill>
                      <a:srgbClr val="F8FAFC"/>
                    </a:solidFill>
                  </a:tcPr>
                </a:tc>
                <a:tc>
                  <a:txBody>
                    <a:bodyPr/>
                    <a:lstStyle/>
                    <a:p>
                      <a:r>
                        <a:rPr sz="1100">
                          <a:solidFill>
                            <a:srgbClr val="1E293B"/>
                          </a:solidFill>
                        </a:rPr>
                        <a:t>Auto-fallback to OpenRouter if primary key is missing</a:t>
                      </a:r>
                    </a:p>
                  </a:txBody>
                  <a:tcPr>
                    <a:solidFill>
                      <a:srgbClr val="F8FAFC"/>
                    </a:solidFill>
                  </a:tcPr>
                </a:tc>
                <a:tc>
                  <a:txBody>
                    <a:bodyPr/>
                    <a:lstStyle/>
                    <a:p>
                      <a:r>
                        <a:rPr sz="1100" b="1">
                          <a:solidFill>
                            <a:srgbClr val="10B981"/>
                          </a:solidFill>
                        </a:rPr>
                        <a:t>PASS</a:t>
                      </a:r>
                    </a:p>
                  </a:txBody>
                  <a:tcPr>
                    <a:solidFill>
                      <a:srgbClr val="F8FAFC"/>
                    </a:solidFill>
                  </a:tcPr>
                </a:tc>
              </a:tr>
              <a:tr h="768096">
                <a:tc>
                  <a:txBody>
                    <a:bodyPr/>
                    <a:lstStyle/>
                    <a:p>
                      <a:r>
                        <a:rPr sz="1100">
                          <a:solidFill>
                            <a:srgbClr val="1E293B"/>
                          </a:solidFill>
                        </a:rPr>
                        <a:t>TC-3</a:t>
                      </a:r>
                    </a:p>
                  </a:txBody>
                  <a:tcPr>
                    <a:solidFill>
                      <a:srgbClr val="FFFFFF"/>
                    </a:solidFill>
                  </a:tcPr>
                </a:tc>
                <a:tc>
                  <a:txBody>
                    <a:bodyPr/>
                    <a:lstStyle/>
                    <a:p>
                      <a:r>
                        <a:rPr sz="1100">
                          <a:solidFill>
                            <a:srgbClr val="1E293B"/>
                          </a:solidFill>
                        </a:rPr>
                        <a:t>Mongoose session sync check</a:t>
                      </a:r>
                    </a:p>
                  </a:txBody>
                  <a:tcPr>
                    <a:solidFill>
                      <a:srgbClr val="FFFFFF"/>
                    </a:solidFill>
                  </a:tcPr>
                </a:tc>
                <a:tc>
                  <a:txBody>
                    <a:bodyPr/>
                    <a:lstStyle/>
                    <a:p>
                      <a:r>
                        <a:rPr sz="1100">
                          <a:solidFill>
                            <a:srgbClr val="1E293B"/>
                          </a:solidFill>
                        </a:rPr>
                        <a:t>No records lost during differential bulk write saves</a:t>
                      </a:r>
                    </a:p>
                  </a:txBody>
                  <a:tcPr>
                    <a:solidFill>
                      <a:srgbClr val="FFFFFF"/>
                    </a:solidFill>
                  </a:tcPr>
                </a:tc>
                <a:tc>
                  <a:txBody>
                    <a:bodyPr/>
                    <a:lstStyle/>
                    <a:p>
                      <a:r>
                        <a:rPr sz="1100" b="1">
                          <a:solidFill>
                            <a:srgbClr val="10B981"/>
                          </a:solidFill>
                        </a:rPr>
                        <a:t>PASS</a:t>
                      </a:r>
                    </a:p>
                  </a:txBody>
                  <a:tcPr>
                    <a:solidFill>
                      <a:srgbClr val="FFFFFF"/>
                    </a:solidFill>
                  </a:tcPr>
                </a:tc>
              </a:tr>
              <a:tr h="768096">
                <a:tc>
                  <a:txBody>
                    <a:bodyPr/>
                    <a:lstStyle/>
                    <a:p>
                      <a:r>
                        <a:rPr sz="1100">
                          <a:solidFill>
                            <a:srgbClr val="1E293B"/>
                          </a:solidFill>
                        </a:rPr>
                        <a:t>TC-4</a:t>
                      </a:r>
                    </a:p>
                  </a:txBody>
                  <a:tcPr>
                    <a:solidFill>
                      <a:srgbClr val="F8FAFC"/>
                    </a:solidFill>
                  </a:tcPr>
                </a:tc>
                <a:tc>
                  <a:txBody>
                    <a:bodyPr/>
                    <a:lstStyle/>
                    <a:p>
                      <a:r>
                        <a:rPr sz="1100">
                          <a:solidFill>
                            <a:srgbClr val="1E293B"/>
                          </a:solidFill>
                        </a:rPr>
                        <a:t>Responsive mobile viewport layout grid</a:t>
                      </a:r>
                    </a:p>
                  </a:txBody>
                  <a:tcPr>
                    <a:solidFill>
                      <a:srgbClr val="F8FAFC"/>
                    </a:solidFill>
                  </a:tcPr>
                </a:tc>
                <a:tc>
                  <a:txBody>
                    <a:bodyPr/>
                    <a:lstStyle/>
                    <a:p>
                      <a:r>
                        <a:rPr sz="1100">
                          <a:solidFill>
                            <a:srgbClr val="1E293B"/>
                          </a:solidFill>
                        </a:rPr>
                        <a:t>Cards list stacks correctly with compact bottom docks</a:t>
                      </a:r>
                    </a:p>
                  </a:txBody>
                  <a:tcPr>
                    <a:solidFill>
                      <a:srgbClr val="F8FAFC"/>
                    </a:solidFill>
                  </a:tcPr>
                </a:tc>
                <a:tc>
                  <a:txBody>
                    <a:bodyPr/>
                    <a:lstStyle/>
                    <a:p>
                      <a:r>
                        <a:rPr sz="1100" b="1">
                          <a:solidFill>
                            <a:srgbClr val="10B981"/>
                          </a:solidFill>
                        </a:rPr>
                        <a:t>PASS</a:t>
                      </a:r>
                    </a:p>
                  </a:txBody>
                  <a:tcPr>
                    <a:solidFill>
                      <a:srgbClr val="F8FA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System Advantages</a:t>
            </a:r>
          </a:p>
        </p:txBody>
      </p:sp>
      <p:sp>
        <p:nvSpPr>
          <p:cNvPr id="4" name="Rounded Rectangle 3"/>
          <p:cNvSpPr/>
          <p:nvPr/>
        </p:nvSpPr>
        <p:spPr>
          <a:xfrm>
            <a:off x="685800"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Time Efficiency</a:t>
            </a:r>
          </a:p>
          <a:p>
            <a:pPr>
              <a:spcAft>
                <a:spcPts val="600"/>
              </a:spcAft>
              <a:defRPr sz="1100" b="0">
                <a:solidFill>
                  <a:srgbClr val="64748B"/>
                </a:solidFill>
                <a:latin typeface="Arial"/>
              </a:defRPr>
            </a:pPr>
            <a:r>
              <a:t>Reduces prompt testing time from minutes to seconds.</a:t>
            </a:r>
          </a:p>
        </p:txBody>
      </p:sp>
      <p:sp>
        <p:nvSpPr>
          <p:cNvPr id="6" name="Rounded Rectangle 5"/>
          <p:cNvSpPr/>
          <p:nvPr/>
        </p:nvSpPr>
        <p:spPr>
          <a:xfrm>
            <a:off x="4453128"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1728"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Logical Contrast</a:t>
            </a:r>
          </a:p>
          <a:p>
            <a:pPr>
              <a:spcAft>
                <a:spcPts val="600"/>
              </a:spcAft>
              <a:defRPr sz="1100" b="0">
                <a:solidFill>
                  <a:srgbClr val="64748B"/>
                </a:solidFill>
                <a:latin typeface="Arial"/>
              </a:defRPr>
            </a:pPr>
            <a:r>
              <a:t>Directly compare reasoning quality between models on a single grid.</a:t>
            </a:r>
          </a:p>
        </p:txBody>
      </p:sp>
      <p:sp>
        <p:nvSpPr>
          <p:cNvPr id="8" name="Rounded Rectangle 7"/>
          <p:cNvSpPr/>
          <p:nvPr/>
        </p:nvSpPr>
        <p:spPr>
          <a:xfrm>
            <a:off x="8211312" y="146304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1691640"/>
            <a:ext cx="2834640" cy="1645920"/>
          </a:xfrm>
          <a:prstGeom prst="rect">
            <a:avLst/>
          </a:prstGeom>
          <a:noFill/>
        </p:spPr>
        <p:txBody>
          <a:bodyPr wrap="square">
            <a:spAutoFit/>
          </a:bodyPr>
          <a:lstStyle/>
          <a:p>
            <a:pPr>
              <a:spcAft>
                <a:spcPts val="600"/>
              </a:spcAft>
              <a:defRPr sz="1400" b="1">
                <a:solidFill>
                  <a:srgbClr val="2563EB"/>
                </a:solidFill>
                <a:latin typeface="Arial"/>
              </a:defRPr>
            </a:pPr>
            <a:r>
              <a:t>No Destructive Overwrite</a:t>
            </a:r>
          </a:p>
          <a:p>
            <a:pPr>
              <a:spcAft>
                <a:spcPts val="600"/>
              </a:spcAft>
              <a:defRPr sz="1100" b="0">
                <a:solidFill>
                  <a:srgbClr val="64748B"/>
                </a:solidFill>
                <a:latin typeface="Arial"/>
              </a:defRPr>
            </a:pPr>
            <a:r>
              <a:t>Prevents database loss through robust differential syncs.</a:t>
            </a:r>
          </a:p>
        </p:txBody>
      </p:sp>
      <p:sp>
        <p:nvSpPr>
          <p:cNvPr id="10" name="Rounded Rectangle 9"/>
          <p:cNvSpPr/>
          <p:nvPr/>
        </p:nvSpPr>
        <p:spPr>
          <a:xfrm>
            <a:off x="685800"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Secure Key storage</a:t>
            </a:r>
          </a:p>
          <a:p>
            <a:pPr>
              <a:spcAft>
                <a:spcPts val="600"/>
              </a:spcAft>
              <a:defRPr sz="1100" b="0">
                <a:solidFill>
                  <a:srgbClr val="64748B"/>
                </a:solidFill>
                <a:latin typeface="Arial"/>
              </a:defRPr>
            </a:pPr>
            <a:r>
              <a:t>Keys are stored locally, avoiding cloud leakage.</a:t>
            </a:r>
          </a:p>
        </p:txBody>
      </p:sp>
      <p:sp>
        <p:nvSpPr>
          <p:cNvPr id="12" name="Rounded Rectangle 11"/>
          <p:cNvSpPr/>
          <p:nvPr/>
        </p:nvSpPr>
        <p:spPr>
          <a:xfrm>
            <a:off x="4453128"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Custom Personas</a:t>
            </a:r>
          </a:p>
          <a:p>
            <a:pPr>
              <a:spcAft>
                <a:spcPts val="600"/>
              </a:spcAft>
              <a:defRPr sz="1100" b="0">
                <a:solidFill>
                  <a:srgbClr val="64748B"/>
                </a:solidFill>
                <a:latin typeface="Arial"/>
              </a:defRPr>
            </a:pPr>
            <a:r>
              <a:t>Steer model behaviors instantly with preset instructions.</a:t>
            </a:r>
          </a:p>
        </p:txBody>
      </p:sp>
      <p:sp>
        <p:nvSpPr>
          <p:cNvPr id="14" name="Rounded Rectangle 13"/>
          <p:cNvSpPr/>
          <p:nvPr/>
        </p:nvSpPr>
        <p:spPr>
          <a:xfrm>
            <a:off x="8211312" y="3931920"/>
            <a:ext cx="3291840"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2" y="4160520"/>
            <a:ext cx="2834640" cy="1645920"/>
          </a:xfrm>
          <a:prstGeom prst="rect">
            <a:avLst/>
          </a:prstGeom>
          <a:noFill/>
        </p:spPr>
        <p:txBody>
          <a:bodyPr wrap="square">
            <a:spAutoFit/>
          </a:bodyPr>
          <a:lstStyle/>
          <a:p>
            <a:pPr>
              <a:spcAft>
                <a:spcPts val="600"/>
              </a:spcAft>
              <a:defRPr sz="1400" b="1">
                <a:solidFill>
                  <a:srgbClr val="2563EB"/>
                </a:solidFill>
                <a:latin typeface="Arial"/>
              </a:defRPr>
            </a:pPr>
            <a:r>
              <a:t>Responsive Layouts</a:t>
            </a:r>
          </a:p>
          <a:p>
            <a:pPr>
              <a:spcAft>
                <a:spcPts val="600"/>
              </a:spcAft>
              <a:defRPr sz="1100" b="0">
                <a:solidFill>
                  <a:srgbClr val="64748B"/>
                </a:solidFill>
                <a:latin typeface="Arial"/>
              </a:defRPr>
            </a:pPr>
            <a:r>
              <a:t>Aesthetics render correctly on desktops, tablets and mobile screens.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a:spAutoFit/>
          </a:bodyPr>
          <a:lstStyle/>
          <a:p>
            <a:pPr>
              <a:defRPr sz="2800" b="1">
                <a:solidFill>
                  <a:srgbClr val="4F46E5"/>
                </a:solidFill>
                <a:latin typeface="Arial"/>
              </a:defRPr>
            </a:pPr>
            <a:r>
              <a:t>Future Roadmap</a:t>
            </a:r>
          </a:p>
        </p:txBody>
      </p:sp>
      <p:sp>
        <p:nvSpPr>
          <p:cNvPr id="4" name="TextBox 3"/>
          <p:cNvSpPr txBox="1"/>
          <p:nvPr/>
        </p:nvSpPr>
        <p:spPr>
          <a:xfrm>
            <a:off x="685800" y="1463040"/>
            <a:ext cx="10817352" cy="4572000"/>
          </a:xfrm>
          <a:prstGeom prst="rect">
            <a:avLst/>
          </a:prstGeom>
          <a:noFill/>
        </p:spPr>
        <p:txBody>
          <a:bodyPr wrap="square">
            <a:spAutoFit/>
          </a:bodyPr>
          <a:lstStyle/>
          <a:p>
            <a:pPr>
              <a:spcAft>
                <a:spcPts val="600"/>
              </a:spcAft>
              <a:defRPr sz="1800" b="1">
                <a:solidFill>
                  <a:srgbClr val="4F46E5"/>
                </a:solidFill>
                <a:latin typeface="Arial"/>
              </a:defRPr>
            </a:pPr>
            <a:r>
              <a:t>System Roadmap Scale-up Features:</a:t>
            </a:r>
          </a:p>
          <a:p>
            <a:pPr>
              <a:spcAft>
                <a:spcPts val="600"/>
              </a:spcAft>
              <a:defRPr sz="1300" b="0">
                <a:solidFill>
                  <a:srgbClr val="1E293B"/>
                </a:solidFill>
                <a:latin typeface="Arial"/>
              </a:defRPr>
            </a:pPr>
            <a:r>
              <a:t>• Server-Sent Events (SSE) Streaming: Character-by-character real-time response rendering.</a:t>
            </a:r>
          </a:p>
          <a:p>
            <a:pPr>
              <a:spcAft>
                <a:spcPts val="600"/>
              </a:spcAft>
              <a:defRPr sz="1300" b="0">
                <a:solidFill>
                  <a:srgbClr val="1E293B"/>
                </a:solidFill>
                <a:latin typeface="Arial"/>
              </a:defRPr>
            </a:pPr>
            <a:r>
              <a:t>• Local LLMs running offline: Integrate WebGPU-based engines like WebLLM directly in the client.</a:t>
            </a:r>
          </a:p>
          <a:p>
            <a:pPr>
              <a:spcAft>
                <a:spcPts val="600"/>
              </a:spcAft>
              <a:defRPr sz="1300" b="0">
                <a:solidFill>
                  <a:srgbClr val="1E293B"/>
                </a:solidFill>
                <a:latin typeface="Arial"/>
              </a:defRPr>
            </a:pPr>
            <a:r>
              <a:t>• OCR document scanning: Read text from documents and PDFs directly into prompt contexts.</a:t>
            </a:r>
          </a:p>
          <a:p>
            <a:pPr>
              <a:spcAft>
                <a:spcPts val="600"/>
              </a:spcAft>
              <a:defRPr sz="1300" b="0">
                <a:solidFill>
                  <a:srgbClr val="1E293B"/>
                </a:solidFill>
                <a:latin typeface="Arial"/>
              </a:defRPr>
            </a:pPr>
            <a:r>
              <a:t>• Vector database RAG search: Semantic search across historic user conversation logs.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2286000"/>
            <a:ext cx="320040" cy="32004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26080" y="3840480"/>
            <a:ext cx="228600" cy="228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 y="4572000"/>
            <a:ext cx="274320" cy="2743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1993392" y="2468880"/>
            <a:ext cx="932688" cy="1463040"/>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234440" y="3950208"/>
            <a:ext cx="1783080" cy="758952"/>
          </a:xfrm>
          <a:prstGeom prst="line">
            <a:avLst/>
          </a:prstGeom>
          <a:ln w="19050">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0" y="2011680"/>
            <a:ext cx="7315200" cy="3200400"/>
          </a:xfrm>
          <a:prstGeom prst="rect">
            <a:avLst/>
          </a:prstGeom>
          <a:noFill/>
        </p:spPr>
        <p:txBody>
          <a:bodyPr wrap="square">
            <a:spAutoFit/>
          </a:bodyPr>
          <a:lstStyle/>
          <a:p>
            <a:pPr algn="l">
              <a:spcAft>
                <a:spcPts val="600"/>
              </a:spcAft>
              <a:defRPr sz="5600" b="1">
                <a:solidFill>
                  <a:srgbClr val="2563EB"/>
                </a:solidFill>
                <a:latin typeface="Arial"/>
              </a:defRPr>
            </a:pPr>
            <a:r>
              <a:t>Thank You</a:t>
            </a:r>
          </a:p>
          <a:p>
            <a:pPr algn="l">
              <a:spcAft>
                <a:spcPts val="600"/>
              </a:spcAft>
              <a:defRPr sz="2200" b="1">
                <a:solidFill>
                  <a:srgbClr val="4F46E5"/>
                </a:solidFill>
                <a:latin typeface="Arial"/>
              </a:defRPr>
            </a:pPr>
            <a:r>
              <a:t>Questions &amp; Discussion</a:t>
            </a:r>
          </a:p>
          <a:p>
            <a:pPr algn="l">
              <a:spcBef>
                <a:spcPts val="1600"/>
              </a:spcBef>
              <a:spcAft>
                <a:spcPts val="600"/>
              </a:spcAft>
              <a:defRPr sz="1400" b="0">
                <a:solidFill>
                  <a:srgbClr val="64748B"/>
                </a:solidFill>
                <a:latin typeface="Arial"/>
              </a:defRPr>
            </a:pPr>
            <a:r>
              <a:t>One Prompt. Multiple AI Perspectives. Intelligent AI Workspace.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